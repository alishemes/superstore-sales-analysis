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0" r:id="rId3"/>
    <p:sldId id="275" r:id="rId4"/>
    <p:sldId id="266" r:id="rId5"/>
    <p:sldId id="267" r:id="rId6"/>
    <p:sldId id="269" r:id="rId7"/>
    <p:sldId id="270" r:id="rId8"/>
    <p:sldId id="271" r:id="rId9"/>
    <p:sldId id="272" r:id="rId10"/>
    <p:sldId id="263" r:id="rId11"/>
    <p:sldId id="273" r:id="rId12"/>
    <p:sldId id="274" r:id="rId13"/>
    <p:sldId id="265"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61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560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31218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5353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32687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968051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31245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538362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376326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37673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3829075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3A7BD5"/>
          </a:solidFill>
          <a:ln w="12700">
            <a:solidFill>
              <a:srgbClr val="3A7BD5"/>
            </a:solidFill>
            <a:prstDash val="solid"/>
          </a:ln>
        </p:spPr>
      </p:sp>
      <p:sp>
        <p:nvSpPr>
          <p:cNvPr id="3" name="Shape 1"/>
          <p:cNvSpPr/>
          <p:nvPr/>
        </p:nvSpPr>
        <p:spPr>
          <a:xfrm>
            <a:off x="640080" y="350520"/>
            <a:ext cx="7863840" cy="1188720"/>
          </a:xfrm>
          <a:prstGeom prst="rect">
            <a:avLst/>
          </a:prstGeom>
          <a:solidFill>
            <a:srgbClr val="2B4C7E"/>
          </a:solidFill>
          <a:ln w="25400">
            <a:solidFill>
              <a:srgbClr val="3A7BD5"/>
            </a:solidFill>
            <a:prstDash val="solid"/>
          </a:ln>
        </p:spPr>
      </p:sp>
      <p:sp>
        <p:nvSpPr>
          <p:cNvPr id="4" name="Text 2"/>
          <p:cNvSpPr/>
          <p:nvPr/>
        </p:nvSpPr>
        <p:spPr>
          <a:xfrm>
            <a:off x="617220" y="336144"/>
            <a:ext cx="7863840" cy="1188720"/>
          </a:xfrm>
          <a:prstGeom prst="rect">
            <a:avLst/>
          </a:prstGeom>
          <a:noFill/>
          <a:ln/>
        </p:spPr>
        <p:txBody>
          <a:bodyPr wrap="square" rtlCol="0" anchor="ctr"/>
          <a:lstStyle/>
          <a:p>
            <a:pPr marL="0" indent="0" algn="ctr">
              <a:buNone/>
            </a:pPr>
            <a:r>
              <a:rPr lang="en-US" sz="3600" b="1" dirty="0">
                <a:solidFill>
                  <a:schemeClr val="bg1"/>
                </a:solidFill>
              </a:rPr>
              <a:t>Superstore Sales Analysis</a:t>
            </a:r>
            <a:r>
              <a:rPr lang="en-US" sz="3600" dirty="0">
                <a:solidFill>
                  <a:schemeClr val="bg1"/>
                </a:solidFill>
              </a:rPr>
              <a:t> </a:t>
            </a:r>
            <a:r>
              <a:rPr lang="en-US" sz="3600" b="1" dirty="0">
                <a:solidFill>
                  <a:schemeClr val="bg1"/>
                </a:solidFill>
              </a:rPr>
              <a:t>Using SQL Server &amp; Power BI</a:t>
            </a:r>
            <a:endParaRPr lang="en-US" sz="3600" dirty="0"/>
          </a:p>
        </p:txBody>
      </p:sp>
      <p:sp>
        <p:nvSpPr>
          <p:cNvPr id="5" name="Shape 3"/>
          <p:cNvSpPr/>
          <p:nvPr/>
        </p:nvSpPr>
        <p:spPr>
          <a:xfrm>
            <a:off x="2286000" y="1717571"/>
            <a:ext cx="4572000" cy="0"/>
          </a:xfrm>
          <a:prstGeom prst="line">
            <a:avLst/>
          </a:prstGeom>
          <a:noFill/>
          <a:ln w="12700">
            <a:solidFill>
              <a:srgbClr val="3A7BD5"/>
            </a:solidFill>
            <a:prstDash val="solid"/>
          </a:ln>
        </p:spPr>
      </p:sp>
      <p:sp>
        <p:nvSpPr>
          <p:cNvPr id="6" name="Text 4"/>
          <p:cNvSpPr/>
          <p:nvPr/>
        </p:nvSpPr>
        <p:spPr>
          <a:xfrm>
            <a:off x="708319" y="2357497"/>
            <a:ext cx="7863840" cy="1228101"/>
          </a:xfrm>
          <a:prstGeom prst="rect">
            <a:avLst/>
          </a:prstGeom>
          <a:noFill/>
          <a:ln/>
        </p:spPr>
        <p:txBody>
          <a:bodyPr wrap="square" rtlCol="0" anchor="ctr"/>
          <a:lstStyle/>
          <a:p>
            <a:pPr marL="0" indent="0">
              <a:buNone/>
            </a:pPr>
            <a:r>
              <a:rPr lang="en-US" sz="1600" dirty="0">
                <a:solidFill>
                  <a:schemeClr val="bg1">
                    <a:lumMod val="75000"/>
                  </a:schemeClr>
                </a:solidFill>
              </a:rPr>
              <a:t>This project presents an end-to-end data analysis of the Superstore dataset. Starting with raw data in SQL Server, the data was cleaned, duplicates were removed, and structured views were built. The final results were visualized through an interactive Power BI dashboard covering sales performance, customer behavior, and product insights.</a:t>
            </a:r>
            <a:endParaRPr lang="en-US" sz="1600" b="1" dirty="0">
              <a:solidFill>
                <a:schemeClr val="bg1">
                  <a:lumMod val="75000"/>
                </a:schemeClr>
              </a:solidFill>
              <a:latin typeface="Arial Black" panose="020B0A04020102020204" pitchFamily="34" charset="0"/>
            </a:endParaRPr>
          </a:p>
        </p:txBody>
      </p:sp>
      <p:sp>
        <p:nvSpPr>
          <p:cNvPr id="16" name="Shape 0">
            <a:extLst>
              <a:ext uri="{FF2B5EF4-FFF2-40B4-BE49-F238E27FC236}">
                <a16:creationId xmlns:a16="http://schemas.microsoft.com/office/drawing/2014/main" id="{591C3E7D-15BB-4057-AC06-80567508EEFC}"/>
              </a:ext>
            </a:extLst>
          </p:cNvPr>
          <p:cNvSpPr/>
          <p:nvPr/>
        </p:nvSpPr>
        <p:spPr>
          <a:xfrm>
            <a:off x="9006840" y="0"/>
            <a:ext cx="137160" cy="5143500"/>
          </a:xfrm>
          <a:prstGeom prst="rect">
            <a:avLst/>
          </a:prstGeom>
          <a:solidFill>
            <a:srgbClr val="3A7BD5"/>
          </a:solidFill>
          <a:ln w="12700">
            <a:solidFill>
              <a:srgbClr val="3A7BD5"/>
            </a:solidFill>
            <a:prstDash val="solid"/>
          </a:ln>
        </p:spPr>
      </p:sp>
      <p:sp>
        <p:nvSpPr>
          <p:cNvPr id="17" name="Text 4">
            <a:extLst>
              <a:ext uri="{FF2B5EF4-FFF2-40B4-BE49-F238E27FC236}">
                <a16:creationId xmlns:a16="http://schemas.microsoft.com/office/drawing/2014/main" id="{D38DA37B-1C3B-48B1-A114-220365BD6DAA}"/>
              </a:ext>
            </a:extLst>
          </p:cNvPr>
          <p:cNvSpPr/>
          <p:nvPr/>
        </p:nvSpPr>
        <p:spPr>
          <a:xfrm>
            <a:off x="662940" y="4055887"/>
            <a:ext cx="7863840" cy="457200"/>
          </a:xfrm>
          <a:prstGeom prst="rect">
            <a:avLst/>
          </a:prstGeom>
          <a:noFill/>
          <a:ln/>
        </p:spPr>
        <p:txBody>
          <a:bodyPr wrap="square" rtlCol="0" anchor="ctr"/>
          <a:lstStyle/>
          <a:p>
            <a:pPr marL="0" indent="0" algn="ctr">
              <a:buNone/>
            </a:pPr>
            <a:r>
              <a:rPr lang="en-US" sz="2000" b="1" dirty="0">
                <a:solidFill>
                  <a:schemeClr val="bg1">
                    <a:lumMod val="85000"/>
                  </a:schemeClr>
                </a:solidFill>
                <a:latin typeface="Arial Black" panose="020B0A04020102020204" pitchFamily="34" charset="0"/>
              </a:rPr>
              <a:t>Ali Shemes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w="12700">
            <a:solidFill>
              <a:srgbClr val="1B2A4A"/>
            </a:solidFill>
            <a:prstDash val="solid"/>
          </a:ln>
        </p:spPr>
      </p:sp>
      <p:sp>
        <p:nvSpPr>
          <p:cNvPr id="3" name="Text 1"/>
          <p:cNvSpPr/>
          <p:nvPr/>
        </p:nvSpPr>
        <p:spPr>
          <a:xfrm>
            <a:off x="365760" y="0"/>
            <a:ext cx="8412480" cy="749808"/>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Database Setup &amp; Exploratory Data Analysis</a:t>
            </a:r>
          </a:p>
        </p:txBody>
      </p:sp>
      <p:sp>
        <p:nvSpPr>
          <p:cNvPr id="6" name="Shape 4"/>
          <p:cNvSpPr/>
          <p:nvPr/>
        </p:nvSpPr>
        <p:spPr>
          <a:xfrm>
            <a:off x="274320" y="941695"/>
            <a:ext cx="3566160" cy="2734329"/>
          </a:xfrm>
          <a:prstGeom prst="rect">
            <a:avLst/>
          </a:prstGeom>
          <a:solidFill>
            <a:srgbClr val="1E1E2E"/>
          </a:solidFill>
          <a:ln w="12700">
            <a:solidFill>
              <a:srgbClr val="3A3A5C"/>
            </a:solidFill>
            <a:prstDash val="solid"/>
          </a:ln>
        </p:spPr>
      </p:sp>
      <p:sp>
        <p:nvSpPr>
          <p:cNvPr id="7" name="Shape 5"/>
          <p:cNvSpPr/>
          <p:nvPr/>
        </p:nvSpPr>
        <p:spPr>
          <a:xfrm>
            <a:off x="274321" y="942173"/>
            <a:ext cx="3566160" cy="274320"/>
          </a:xfrm>
          <a:prstGeom prst="rect">
            <a:avLst/>
          </a:prstGeom>
          <a:solidFill>
            <a:srgbClr val="3A3A5C"/>
          </a:solidFill>
          <a:ln w="12700">
            <a:solidFill>
              <a:srgbClr val="3A3A5C"/>
            </a:solidFill>
            <a:prstDash val="solid"/>
          </a:ln>
        </p:spPr>
        <p:txBody>
          <a:bodyPr/>
          <a:lstStyle/>
          <a:p>
            <a:endParaRPr lang="en-US" dirty="0"/>
          </a:p>
        </p:txBody>
      </p:sp>
      <p:sp>
        <p:nvSpPr>
          <p:cNvPr id="8" name="Text 6"/>
          <p:cNvSpPr/>
          <p:nvPr/>
        </p:nvSpPr>
        <p:spPr>
          <a:xfrm>
            <a:off x="205740" y="931623"/>
            <a:ext cx="4297680" cy="274320"/>
          </a:xfrm>
          <a:prstGeom prst="rect">
            <a:avLst/>
          </a:prstGeom>
          <a:noFill/>
          <a:ln/>
        </p:spPr>
        <p:txBody>
          <a:bodyPr wrap="square" rtlCol="0" anchor="ctr"/>
          <a:lstStyle/>
          <a:p>
            <a:pPr marL="0" indent="0">
              <a:buNone/>
            </a:pPr>
            <a:r>
              <a:rPr lang="en-US" sz="1000" b="1" dirty="0">
                <a:solidFill>
                  <a:srgbClr val="9CDCFE"/>
                </a:solidFill>
                <a:latin typeface="Consolas" pitchFamily="34" charset="0"/>
                <a:ea typeface="Consolas" pitchFamily="34" charset="-122"/>
                <a:cs typeface="Consolas" pitchFamily="34" charset="-120"/>
              </a:rPr>
              <a:t>💻</a:t>
            </a:r>
            <a:endParaRPr lang="en-US" sz="1000" dirty="0"/>
          </a:p>
        </p:txBody>
      </p:sp>
      <p:sp>
        <p:nvSpPr>
          <p:cNvPr id="10" name="Shape 8"/>
          <p:cNvSpPr/>
          <p:nvPr/>
        </p:nvSpPr>
        <p:spPr>
          <a:xfrm>
            <a:off x="5037389" y="1216015"/>
            <a:ext cx="3840480" cy="2734328"/>
          </a:xfrm>
          <a:prstGeom prst="rect">
            <a:avLst/>
          </a:prstGeom>
          <a:solidFill>
            <a:srgbClr val="F7FAFC"/>
          </a:solidFill>
          <a:ln w="12700">
            <a:solidFill>
              <a:srgbClr val="CBD5E0"/>
            </a:solidFill>
            <a:prstDash val="dash"/>
          </a:ln>
        </p:spPr>
      </p:sp>
      <p:sp>
        <p:nvSpPr>
          <p:cNvPr id="11" name="Shape 9"/>
          <p:cNvSpPr/>
          <p:nvPr/>
        </p:nvSpPr>
        <p:spPr>
          <a:xfrm>
            <a:off x="5029200" y="941695"/>
            <a:ext cx="3840480" cy="274320"/>
          </a:xfrm>
          <a:prstGeom prst="rect">
            <a:avLst/>
          </a:prstGeom>
          <a:solidFill>
            <a:srgbClr val="CBD5E0"/>
          </a:solidFill>
          <a:ln w="12700">
            <a:solidFill>
              <a:srgbClr val="CBD5E0"/>
            </a:solidFill>
            <a:prstDash val="solid"/>
          </a:ln>
        </p:spPr>
      </p:sp>
      <p:sp>
        <p:nvSpPr>
          <p:cNvPr id="12" name="Text 10"/>
          <p:cNvSpPr/>
          <p:nvPr/>
        </p:nvSpPr>
        <p:spPr>
          <a:xfrm>
            <a:off x="5021011" y="952723"/>
            <a:ext cx="3566160" cy="274320"/>
          </a:xfrm>
          <a:prstGeom prst="rect">
            <a:avLst/>
          </a:prstGeom>
          <a:noFill/>
          <a:ln/>
        </p:spPr>
        <p:txBody>
          <a:bodyPr wrap="square" rtlCol="0" anchor="ctr"/>
          <a:lstStyle/>
          <a:p>
            <a:pPr marL="0" indent="0">
              <a:buNone/>
            </a:pPr>
            <a:r>
              <a:rPr lang="en-US" sz="1000" b="1" dirty="0">
                <a:solidFill>
                  <a:srgbClr val="4A5568"/>
                </a:solidFill>
                <a:latin typeface="Calibri" pitchFamily="34" charset="0"/>
                <a:ea typeface="Calibri" pitchFamily="34" charset="-122"/>
                <a:cs typeface="Calibri" pitchFamily="34" charset="-120"/>
              </a:rPr>
              <a:t>📊 Output</a:t>
            </a:r>
            <a:endParaRPr lang="en-US" sz="1000" dirty="0"/>
          </a:p>
        </p:txBody>
      </p:sp>
      <p:sp>
        <p:nvSpPr>
          <p:cNvPr id="13" name="Text 11"/>
          <p:cNvSpPr/>
          <p:nvPr/>
        </p:nvSpPr>
        <p:spPr>
          <a:xfrm>
            <a:off x="5029200" y="1600200"/>
            <a:ext cx="3840480" cy="1417320"/>
          </a:xfrm>
          <a:prstGeom prst="rect">
            <a:avLst/>
          </a:prstGeom>
          <a:noFill/>
          <a:ln/>
        </p:spPr>
        <p:txBody>
          <a:bodyPr wrap="square" rtlCol="0" anchor="ctr"/>
          <a:lstStyle/>
          <a:p>
            <a:pPr marL="0" indent="0" algn="ctr">
              <a:buNone/>
            </a:pPr>
            <a:r>
              <a:rPr lang="en-US" sz="1300" dirty="0">
                <a:solidFill>
                  <a:srgbClr val="A0AEC0"/>
                </a:solidFill>
                <a:latin typeface="Calibri" pitchFamily="34" charset="0"/>
                <a:ea typeface="Calibri" pitchFamily="34" charset="-122"/>
                <a:cs typeface="Calibri" pitchFamily="34" charset="-120"/>
              </a:rPr>
              <a:t>Chart / Table / Result</a:t>
            </a:r>
            <a:endParaRPr lang="en-US" sz="1300" dirty="0"/>
          </a:p>
        </p:txBody>
      </p:sp>
      <p:sp>
        <p:nvSpPr>
          <p:cNvPr id="22" name="Text 7">
            <a:extLst>
              <a:ext uri="{FF2B5EF4-FFF2-40B4-BE49-F238E27FC236}">
                <a16:creationId xmlns:a16="http://schemas.microsoft.com/office/drawing/2014/main" id="{E2C62793-10EC-4D27-9734-C8A0738D6930}"/>
              </a:ext>
            </a:extLst>
          </p:cNvPr>
          <p:cNvSpPr/>
          <p:nvPr/>
        </p:nvSpPr>
        <p:spPr>
          <a:xfrm>
            <a:off x="274320" y="4060208"/>
            <a:ext cx="5457740" cy="1023582"/>
          </a:xfrm>
          <a:prstGeom prst="rect">
            <a:avLst/>
          </a:prstGeom>
          <a:noFill/>
          <a:ln/>
        </p:spPr>
        <p:txBody>
          <a:bodyPr wrap="square" rtlCol="0" anchor="t"/>
          <a:lstStyle/>
          <a:p>
            <a:r>
              <a:rPr lang="en-US" sz="1100" b="1" dirty="0"/>
              <a:t>Create Database &amp; EDA</a:t>
            </a:r>
            <a:endParaRPr lang="en-US" sz="1100" dirty="0"/>
          </a:p>
          <a:p>
            <a:r>
              <a:rPr lang="en-US" sz="1100" b="1" dirty="0"/>
              <a:t>Create a new database</a:t>
            </a:r>
            <a:r>
              <a:rPr lang="en-US" sz="1100" dirty="0"/>
              <a:t> called </a:t>
            </a:r>
            <a:r>
              <a:rPr lang="en-US" sz="1100" dirty="0" err="1"/>
              <a:t>SalesProject</a:t>
            </a:r>
            <a:r>
              <a:rPr lang="en-US" sz="1100" dirty="0"/>
              <a:t> and switch to it to start working.</a:t>
            </a:r>
          </a:p>
          <a:p>
            <a:r>
              <a:rPr lang="en-US" sz="1100" b="1" dirty="0"/>
              <a:t>Preview the data</a:t>
            </a:r>
            <a:r>
              <a:rPr lang="en-US" sz="1100" dirty="0"/>
              <a:t> by selecting the first 10 rows to understand the structure and columns of the dataset.</a:t>
            </a:r>
          </a:p>
          <a:p>
            <a:r>
              <a:rPr lang="en-US" sz="1100" b="1" dirty="0"/>
              <a:t>Count total rows</a:t>
            </a:r>
            <a:r>
              <a:rPr lang="en-US" sz="1100" dirty="0"/>
              <a:t> to check the size of the dataset before any cleaning or processing.</a:t>
            </a:r>
          </a:p>
        </p:txBody>
      </p:sp>
      <p:pic>
        <p:nvPicPr>
          <p:cNvPr id="24" name="Picture 23">
            <a:extLst>
              <a:ext uri="{FF2B5EF4-FFF2-40B4-BE49-F238E27FC236}">
                <a16:creationId xmlns:a16="http://schemas.microsoft.com/office/drawing/2014/main" id="{B05BB3A0-7B01-498D-8A63-53E36A0AA48C}"/>
              </a:ext>
            </a:extLst>
          </p:cNvPr>
          <p:cNvPicPr>
            <a:picLocks noChangeAspect="1"/>
          </p:cNvPicPr>
          <p:nvPr/>
        </p:nvPicPr>
        <p:blipFill>
          <a:blip r:embed="rId3"/>
          <a:stretch>
            <a:fillRect/>
          </a:stretch>
        </p:blipFill>
        <p:spPr>
          <a:xfrm>
            <a:off x="205740" y="1227043"/>
            <a:ext cx="3726181" cy="2459053"/>
          </a:xfrm>
          <a:prstGeom prst="rect">
            <a:avLst/>
          </a:prstGeom>
        </p:spPr>
      </p:pic>
      <p:pic>
        <p:nvPicPr>
          <p:cNvPr id="26" name="Picture 25">
            <a:extLst>
              <a:ext uri="{FF2B5EF4-FFF2-40B4-BE49-F238E27FC236}">
                <a16:creationId xmlns:a16="http://schemas.microsoft.com/office/drawing/2014/main" id="{FDE42694-298D-4D18-9B6E-8C522556B151}"/>
              </a:ext>
            </a:extLst>
          </p:cNvPr>
          <p:cNvPicPr>
            <a:picLocks noChangeAspect="1"/>
          </p:cNvPicPr>
          <p:nvPr/>
        </p:nvPicPr>
        <p:blipFill>
          <a:blip r:embed="rId4"/>
          <a:stretch>
            <a:fillRect/>
          </a:stretch>
        </p:blipFill>
        <p:spPr>
          <a:xfrm>
            <a:off x="5021011" y="1238071"/>
            <a:ext cx="3884442" cy="2734328"/>
          </a:xfrm>
          <a:prstGeom prst="rect">
            <a:avLst/>
          </a:prstGeom>
        </p:spPr>
      </p:pic>
      <p:sp>
        <p:nvSpPr>
          <p:cNvPr id="27" name="Shape 5">
            <a:extLst>
              <a:ext uri="{FF2B5EF4-FFF2-40B4-BE49-F238E27FC236}">
                <a16:creationId xmlns:a16="http://schemas.microsoft.com/office/drawing/2014/main" id="{4CA32F72-4BF1-4ADF-8954-2C825AC11873}"/>
              </a:ext>
            </a:extLst>
          </p:cNvPr>
          <p:cNvSpPr/>
          <p:nvPr/>
        </p:nvSpPr>
        <p:spPr>
          <a:xfrm>
            <a:off x="205740" y="3916457"/>
            <a:ext cx="4120600" cy="148949"/>
          </a:xfrm>
          <a:prstGeom prst="rect">
            <a:avLst/>
          </a:prstGeom>
          <a:solidFill>
            <a:srgbClr val="3A3A5C"/>
          </a:solidFill>
          <a:ln w="12700">
            <a:solidFill>
              <a:srgbClr val="3A3A5C"/>
            </a:solidFill>
            <a:prstDash val="solid"/>
          </a:ln>
        </p:spPr>
        <p:txBody>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w="12700">
            <a:solidFill>
              <a:srgbClr val="1B2A4A"/>
            </a:solidFill>
            <a:prstDash val="solid"/>
          </a:ln>
        </p:spPr>
      </p:sp>
      <p:sp>
        <p:nvSpPr>
          <p:cNvPr id="3" name="Text 1"/>
          <p:cNvSpPr/>
          <p:nvPr/>
        </p:nvSpPr>
        <p:spPr>
          <a:xfrm>
            <a:off x="365760" y="0"/>
            <a:ext cx="8412480" cy="749808"/>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Database Setup &amp; Exploratory Data Analysis</a:t>
            </a:r>
          </a:p>
        </p:txBody>
      </p:sp>
      <p:sp>
        <p:nvSpPr>
          <p:cNvPr id="7" name="Shape 5"/>
          <p:cNvSpPr/>
          <p:nvPr/>
        </p:nvSpPr>
        <p:spPr>
          <a:xfrm>
            <a:off x="274321" y="942173"/>
            <a:ext cx="3566160" cy="274320"/>
          </a:xfrm>
          <a:prstGeom prst="rect">
            <a:avLst/>
          </a:prstGeom>
          <a:solidFill>
            <a:srgbClr val="3A3A5C"/>
          </a:solidFill>
          <a:ln w="12700">
            <a:solidFill>
              <a:srgbClr val="3A3A5C"/>
            </a:solidFill>
            <a:prstDash val="solid"/>
          </a:ln>
        </p:spPr>
        <p:txBody>
          <a:bodyPr/>
          <a:lstStyle/>
          <a:p>
            <a:endParaRPr lang="en-US" dirty="0"/>
          </a:p>
        </p:txBody>
      </p:sp>
      <p:sp>
        <p:nvSpPr>
          <p:cNvPr id="8" name="Text 6"/>
          <p:cNvSpPr/>
          <p:nvPr/>
        </p:nvSpPr>
        <p:spPr>
          <a:xfrm>
            <a:off x="205740" y="931623"/>
            <a:ext cx="4297680" cy="274320"/>
          </a:xfrm>
          <a:prstGeom prst="rect">
            <a:avLst/>
          </a:prstGeom>
          <a:noFill/>
          <a:ln/>
        </p:spPr>
        <p:txBody>
          <a:bodyPr wrap="square" rtlCol="0" anchor="ctr"/>
          <a:lstStyle/>
          <a:p>
            <a:pPr marL="0" indent="0">
              <a:buNone/>
            </a:pPr>
            <a:r>
              <a:rPr lang="en-US" sz="1000" b="1" dirty="0">
                <a:solidFill>
                  <a:srgbClr val="9CDCFE"/>
                </a:solidFill>
                <a:latin typeface="Consolas" pitchFamily="34" charset="0"/>
                <a:ea typeface="Consolas" pitchFamily="34" charset="-122"/>
                <a:cs typeface="Consolas" pitchFamily="34" charset="-120"/>
              </a:rPr>
              <a:t>💻</a:t>
            </a:r>
            <a:endParaRPr lang="en-US" sz="1000" dirty="0"/>
          </a:p>
        </p:txBody>
      </p:sp>
      <p:sp>
        <p:nvSpPr>
          <p:cNvPr id="11" name="Shape 9"/>
          <p:cNvSpPr/>
          <p:nvPr/>
        </p:nvSpPr>
        <p:spPr>
          <a:xfrm>
            <a:off x="5029200" y="941695"/>
            <a:ext cx="3840480" cy="274320"/>
          </a:xfrm>
          <a:prstGeom prst="rect">
            <a:avLst/>
          </a:prstGeom>
          <a:solidFill>
            <a:srgbClr val="CBD5E0"/>
          </a:solidFill>
          <a:ln w="12700">
            <a:solidFill>
              <a:srgbClr val="CBD5E0"/>
            </a:solidFill>
            <a:prstDash val="solid"/>
          </a:ln>
        </p:spPr>
      </p:sp>
      <p:sp>
        <p:nvSpPr>
          <p:cNvPr id="12" name="Text 10"/>
          <p:cNvSpPr/>
          <p:nvPr/>
        </p:nvSpPr>
        <p:spPr>
          <a:xfrm>
            <a:off x="5021011" y="952723"/>
            <a:ext cx="3566160" cy="274320"/>
          </a:xfrm>
          <a:prstGeom prst="rect">
            <a:avLst/>
          </a:prstGeom>
          <a:noFill/>
          <a:ln/>
        </p:spPr>
        <p:txBody>
          <a:bodyPr wrap="square" rtlCol="0" anchor="ctr"/>
          <a:lstStyle/>
          <a:p>
            <a:pPr marL="0" indent="0">
              <a:buNone/>
            </a:pPr>
            <a:r>
              <a:rPr lang="en-US" sz="1000" b="1" dirty="0">
                <a:solidFill>
                  <a:srgbClr val="4A5568"/>
                </a:solidFill>
                <a:latin typeface="Calibri" pitchFamily="34" charset="0"/>
                <a:ea typeface="Calibri" pitchFamily="34" charset="-122"/>
                <a:cs typeface="Calibri" pitchFamily="34" charset="-120"/>
              </a:rPr>
              <a:t>📊 Output</a:t>
            </a:r>
            <a:endParaRPr lang="en-US" sz="1000" dirty="0"/>
          </a:p>
        </p:txBody>
      </p:sp>
      <p:sp>
        <p:nvSpPr>
          <p:cNvPr id="13" name="Text 11"/>
          <p:cNvSpPr/>
          <p:nvPr/>
        </p:nvSpPr>
        <p:spPr>
          <a:xfrm>
            <a:off x="5029200" y="1600200"/>
            <a:ext cx="3840480" cy="1417320"/>
          </a:xfrm>
          <a:prstGeom prst="rect">
            <a:avLst/>
          </a:prstGeom>
          <a:noFill/>
          <a:ln/>
        </p:spPr>
        <p:txBody>
          <a:bodyPr wrap="square" rtlCol="0" anchor="ctr"/>
          <a:lstStyle/>
          <a:p>
            <a:pPr marL="0" indent="0" algn="ctr">
              <a:buNone/>
            </a:pPr>
            <a:r>
              <a:rPr lang="en-US" sz="1300" dirty="0">
                <a:solidFill>
                  <a:srgbClr val="A0AEC0"/>
                </a:solidFill>
                <a:latin typeface="Calibri" pitchFamily="34" charset="0"/>
                <a:ea typeface="Calibri" pitchFamily="34" charset="-122"/>
                <a:cs typeface="Calibri" pitchFamily="34" charset="-120"/>
              </a:rPr>
              <a:t>Chart / Table / Result</a:t>
            </a:r>
            <a:endParaRPr lang="en-US" sz="1300" dirty="0"/>
          </a:p>
        </p:txBody>
      </p:sp>
      <p:sp>
        <p:nvSpPr>
          <p:cNvPr id="22" name="Text 7">
            <a:extLst>
              <a:ext uri="{FF2B5EF4-FFF2-40B4-BE49-F238E27FC236}">
                <a16:creationId xmlns:a16="http://schemas.microsoft.com/office/drawing/2014/main" id="{E2C62793-10EC-4D27-9734-C8A0738D6930}"/>
              </a:ext>
            </a:extLst>
          </p:cNvPr>
          <p:cNvSpPr/>
          <p:nvPr/>
        </p:nvSpPr>
        <p:spPr>
          <a:xfrm>
            <a:off x="274320" y="4060208"/>
            <a:ext cx="5457740" cy="1023582"/>
          </a:xfrm>
          <a:prstGeom prst="rect">
            <a:avLst/>
          </a:prstGeom>
          <a:noFill/>
          <a:ln/>
        </p:spPr>
        <p:txBody>
          <a:bodyPr wrap="square" rtlCol="0" anchor="t"/>
          <a:lstStyle/>
          <a:p>
            <a:r>
              <a:rPr lang="en-US" sz="1200" dirty="0"/>
              <a:t>Analyzed sales distribution using summary statistics (Min, Max, Average, and Standard Deviation) to gain insights into overall sales behavior</a:t>
            </a:r>
          </a:p>
        </p:txBody>
      </p:sp>
      <p:sp>
        <p:nvSpPr>
          <p:cNvPr id="27" name="Shape 5">
            <a:extLst>
              <a:ext uri="{FF2B5EF4-FFF2-40B4-BE49-F238E27FC236}">
                <a16:creationId xmlns:a16="http://schemas.microsoft.com/office/drawing/2014/main" id="{4CA32F72-4BF1-4ADF-8954-2C825AC11873}"/>
              </a:ext>
            </a:extLst>
          </p:cNvPr>
          <p:cNvSpPr/>
          <p:nvPr/>
        </p:nvSpPr>
        <p:spPr>
          <a:xfrm>
            <a:off x="205740" y="3916457"/>
            <a:ext cx="4120600" cy="148949"/>
          </a:xfrm>
          <a:prstGeom prst="rect">
            <a:avLst/>
          </a:prstGeom>
          <a:solidFill>
            <a:srgbClr val="3A3A5C"/>
          </a:solidFill>
          <a:ln w="12700">
            <a:solidFill>
              <a:srgbClr val="3A3A5C"/>
            </a:solidFill>
            <a:prstDash val="solid"/>
          </a:ln>
        </p:spPr>
        <p:txBody>
          <a:bodyPr/>
          <a:lstStyle/>
          <a:p>
            <a:endParaRPr lang="en-US" dirty="0"/>
          </a:p>
        </p:txBody>
      </p:sp>
      <p:pic>
        <p:nvPicPr>
          <p:cNvPr id="5" name="Picture 4">
            <a:extLst>
              <a:ext uri="{FF2B5EF4-FFF2-40B4-BE49-F238E27FC236}">
                <a16:creationId xmlns:a16="http://schemas.microsoft.com/office/drawing/2014/main" id="{5EB4E906-7701-424C-A724-CF73DC0B4D5B}"/>
              </a:ext>
            </a:extLst>
          </p:cNvPr>
          <p:cNvPicPr>
            <a:picLocks noChangeAspect="1"/>
          </p:cNvPicPr>
          <p:nvPr/>
        </p:nvPicPr>
        <p:blipFill>
          <a:blip r:embed="rId3"/>
          <a:stretch>
            <a:fillRect/>
          </a:stretch>
        </p:blipFill>
        <p:spPr>
          <a:xfrm>
            <a:off x="365760" y="1238566"/>
            <a:ext cx="3458058" cy="1722448"/>
          </a:xfrm>
          <a:prstGeom prst="rect">
            <a:avLst/>
          </a:prstGeom>
        </p:spPr>
      </p:pic>
      <p:pic>
        <p:nvPicPr>
          <p:cNvPr id="14" name="Picture 13">
            <a:extLst>
              <a:ext uri="{FF2B5EF4-FFF2-40B4-BE49-F238E27FC236}">
                <a16:creationId xmlns:a16="http://schemas.microsoft.com/office/drawing/2014/main" id="{D843A217-4058-46BA-A4E7-6199BD70EC27}"/>
              </a:ext>
            </a:extLst>
          </p:cNvPr>
          <p:cNvPicPr>
            <a:picLocks noChangeAspect="1"/>
          </p:cNvPicPr>
          <p:nvPr/>
        </p:nvPicPr>
        <p:blipFill>
          <a:blip r:embed="rId4"/>
          <a:stretch>
            <a:fillRect/>
          </a:stretch>
        </p:blipFill>
        <p:spPr>
          <a:xfrm>
            <a:off x="5407336" y="1859084"/>
            <a:ext cx="2943636" cy="621817"/>
          </a:xfrm>
          <a:prstGeom prst="rect">
            <a:avLst/>
          </a:prstGeom>
        </p:spPr>
      </p:pic>
    </p:spTree>
    <p:extLst>
      <p:ext uri="{BB962C8B-B14F-4D97-AF65-F5344CB8AC3E}">
        <p14:creationId xmlns:p14="http://schemas.microsoft.com/office/powerpoint/2010/main" val="2382873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w="12700">
            <a:solidFill>
              <a:srgbClr val="1B2A4A"/>
            </a:solidFill>
            <a:prstDash val="solid"/>
          </a:ln>
        </p:spPr>
      </p:sp>
      <p:sp>
        <p:nvSpPr>
          <p:cNvPr id="3" name="Text 1"/>
          <p:cNvSpPr/>
          <p:nvPr/>
        </p:nvSpPr>
        <p:spPr>
          <a:xfrm>
            <a:off x="365760" y="0"/>
            <a:ext cx="8412480" cy="749808"/>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NULL Values Check &amp; Duplicate Detection</a:t>
            </a:r>
          </a:p>
        </p:txBody>
      </p:sp>
      <p:sp>
        <p:nvSpPr>
          <p:cNvPr id="6" name="Shape 4"/>
          <p:cNvSpPr/>
          <p:nvPr/>
        </p:nvSpPr>
        <p:spPr>
          <a:xfrm>
            <a:off x="274320" y="941695"/>
            <a:ext cx="3566160" cy="2734329"/>
          </a:xfrm>
          <a:prstGeom prst="rect">
            <a:avLst/>
          </a:prstGeom>
          <a:solidFill>
            <a:srgbClr val="1E1E2E"/>
          </a:solidFill>
          <a:ln w="12700">
            <a:solidFill>
              <a:srgbClr val="3A3A5C"/>
            </a:solidFill>
            <a:prstDash val="solid"/>
          </a:ln>
        </p:spPr>
      </p:sp>
      <p:sp>
        <p:nvSpPr>
          <p:cNvPr id="7" name="Shape 5"/>
          <p:cNvSpPr/>
          <p:nvPr/>
        </p:nvSpPr>
        <p:spPr>
          <a:xfrm>
            <a:off x="274321" y="942173"/>
            <a:ext cx="3566160" cy="274320"/>
          </a:xfrm>
          <a:prstGeom prst="rect">
            <a:avLst/>
          </a:prstGeom>
          <a:solidFill>
            <a:srgbClr val="3A3A5C"/>
          </a:solidFill>
          <a:ln w="12700">
            <a:solidFill>
              <a:srgbClr val="3A3A5C"/>
            </a:solidFill>
            <a:prstDash val="solid"/>
          </a:ln>
        </p:spPr>
        <p:txBody>
          <a:bodyPr/>
          <a:lstStyle/>
          <a:p>
            <a:endParaRPr lang="en-US" dirty="0"/>
          </a:p>
        </p:txBody>
      </p:sp>
      <p:sp>
        <p:nvSpPr>
          <p:cNvPr id="8" name="Text 6"/>
          <p:cNvSpPr/>
          <p:nvPr/>
        </p:nvSpPr>
        <p:spPr>
          <a:xfrm>
            <a:off x="205740" y="952095"/>
            <a:ext cx="4297680" cy="274320"/>
          </a:xfrm>
          <a:prstGeom prst="rect">
            <a:avLst/>
          </a:prstGeom>
          <a:noFill/>
          <a:ln/>
        </p:spPr>
        <p:txBody>
          <a:bodyPr wrap="square" rtlCol="0" anchor="ctr"/>
          <a:lstStyle/>
          <a:p>
            <a:pPr marL="0" indent="0">
              <a:buNone/>
            </a:pPr>
            <a:r>
              <a:rPr lang="en-US" sz="1000" b="1" dirty="0">
                <a:solidFill>
                  <a:srgbClr val="9CDCFE"/>
                </a:solidFill>
                <a:latin typeface="Consolas" pitchFamily="34" charset="0"/>
                <a:ea typeface="Consolas" pitchFamily="34" charset="-122"/>
                <a:cs typeface="Consolas" pitchFamily="34" charset="-120"/>
              </a:rPr>
              <a:t>💻</a:t>
            </a:r>
            <a:endParaRPr lang="en-US" sz="1000" dirty="0"/>
          </a:p>
        </p:txBody>
      </p:sp>
      <p:sp>
        <p:nvSpPr>
          <p:cNvPr id="11" name="Shape 9"/>
          <p:cNvSpPr/>
          <p:nvPr/>
        </p:nvSpPr>
        <p:spPr>
          <a:xfrm>
            <a:off x="5029200" y="941695"/>
            <a:ext cx="3840480" cy="274320"/>
          </a:xfrm>
          <a:prstGeom prst="rect">
            <a:avLst/>
          </a:prstGeom>
          <a:solidFill>
            <a:srgbClr val="CBD5E0"/>
          </a:solidFill>
          <a:ln w="12700">
            <a:solidFill>
              <a:srgbClr val="CBD5E0"/>
            </a:solidFill>
            <a:prstDash val="solid"/>
          </a:ln>
        </p:spPr>
      </p:sp>
      <p:sp>
        <p:nvSpPr>
          <p:cNvPr id="12" name="Text 10"/>
          <p:cNvSpPr/>
          <p:nvPr/>
        </p:nvSpPr>
        <p:spPr>
          <a:xfrm>
            <a:off x="5021011" y="952723"/>
            <a:ext cx="3566160" cy="274320"/>
          </a:xfrm>
          <a:prstGeom prst="rect">
            <a:avLst/>
          </a:prstGeom>
          <a:noFill/>
          <a:ln/>
        </p:spPr>
        <p:txBody>
          <a:bodyPr wrap="square" rtlCol="0" anchor="ctr"/>
          <a:lstStyle/>
          <a:p>
            <a:pPr marL="0" indent="0">
              <a:buNone/>
            </a:pPr>
            <a:r>
              <a:rPr lang="en-US" sz="1000" b="1" dirty="0">
                <a:solidFill>
                  <a:srgbClr val="4A5568"/>
                </a:solidFill>
                <a:latin typeface="Calibri" pitchFamily="34" charset="0"/>
                <a:ea typeface="Calibri" pitchFamily="34" charset="-122"/>
                <a:cs typeface="Calibri" pitchFamily="34" charset="-120"/>
              </a:rPr>
              <a:t>📊 Output</a:t>
            </a:r>
            <a:endParaRPr lang="en-US" sz="1000" dirty="0"/>
          </a:p>
        </p:txBody>
      </p:sp>
      <p:sp>
        <p:nvSpPr>
          <p:cNvPr id="13" name="Text 11"/>
          <p:cNvSpPr/>
          <p:nvPr/>
        </p:nvSpPr>
        <p:spPr>
          <a:xfrm>
            <a:off x="5029200" y="1600200"/>
            <a:ext cx="3840480" cy="1417320"/>
          </a:xfrm>
          <a:prstGeom prst="rect">
            <a:avLst/>
          </a:prstGeom>
          <a:noFill/>
          <a:ln/>
        </p:spPr>
        <p:txBody>
          <a:bodyPr wrap="square" rtlCol="0" anchor="ctr"/>
          <a:lstStyle/>
          <a:p>
            <a:pPr marL="0" indent="0" algn="ctr">
              <a:buNone/>
            </a:pPr>
            <a:r>
              <a:rPr lang="en-US" sz="1300" dirty="0">
                <a:solidFill>
                  <a:srgbClr val="A0AEC0"/>
                </a:solidFill>
                <a:latin typeface="Calibri" pitchFamily="34" charset="0"/>
                <a:ea typeface="Calibri" pitchFamily="34" charset="-122"/>
                <a:cs typeface="Calibri" pitchFamily="34" charset="-120"/>
              </a:rPr>
              <a:t>Chart / Table / Result</a:t>
            </a:r>
            <a:endParaRPr lang="en-US" sz="1300" dirty="0"/>
          </a:p>
        </p:txBody>
      </p:sp>
      <p:sp>
        <p:nvSpPr>
          <p:cNvPr id="22" name="Text 7">
            <a:extLst>
              <a:ext uri="{FF2B5EF4-FFF2-40B4-BE49-F238E27FC236}">
                <a16:creationId xmlns:a16="http://schemas.microsoft.com/office/drawing/2014/main" id="{E2C62793-10EC-4D27-9734-C8A0738D6930}"/>
              </a:ext>
            </a:extLst>
          </p:cNvPr>
          <p:cNvSpPr/>
          <p:nvPr/>
        </p:nvSpPr>
        <p:spPr>
          <a:xfrm>
            <a:off x="205740" y="4060208"/>
            <a:ext cx="4366260" cy="1023582"/>
          </a:xfrm>
          <a:prstGeom prst="rect">
            <a:avLst/>
          </a:prstGeom>
          <a:noFill/>
          <a:ln/>
        </p:spPr>
        <p:txBody>
          <a:bodyPr wrap="square" rtlCol="0" anchor="t"/>
          <a:lstStyle/>
          <a:p>
            <a:r>
              <a:rPr lang="en-US" sz="1200" dirty="0"/>
              <a:t>Checking for NULL values in the most critical columns to ensure data completeness.</a:t>
            </a:r>
          </a:p>
          <a:p>
            <a:r>
              <a:rPr lang="en-US" sz="1200" dirty="0"/>
              <a:t> Then using CTE with ROW_NUMBER() to detect any duplicate records based on </a:t>
            </a:r>
            <a:r>
              <a:rPr lang="en-US" sz="1200" dirty="0" err="1"/>
              <a:t>Order_ID</a:t>
            </a:r>
            <a:r>
              <a:rPr lang="en-US" sz="1200" dirty="0"/>
              <a:t> and </a:t>
            </a:r>
            <a:r>
              <a:rPr lang="en-US" sz="1200" dirty="0" err="1"/>
              <a:t>Product_ID</a:t>
            </a:r>
            <a:r>
              <a:rPr lang="en-US" sz="1200" dirty="0"/>
              <a:t> combination.</a:t>
            </a:r>
          </a:p>
        </p:txBody>
      </p:sp>
      <p:sp>
        <p:nvSpPr>
          <p:cNvPr id="27" name="Shape 5">
            <a:extLst>
              <a:ext uri="{FF2B5EF4-FFF2-40B4-BE49-F238E27FC236}">
                <a16:creationId xmlns:a16="http://schemas.microsoft.com/office/drawing/2014/main" id="{4CA32F72-4BF1-4ADF-8954-2C825AC11873}"/>
              </a:ext>
            </a:extLst>
          </p:cNvPr>
          <p:cNvSpPr/>
          <p:nvPr/>
        </p:nvSpPr>
        <p:spPr>
          <a:xfrm>
            <a:off x="205740" y="3867911"/>
            <a:ext cx="3711166" cy="197496"/>
          </a:xfrm>
          <a:prstGeom prst="rect">
            <a:avLst/>
          </a:prstGeom>
          <a:solidFill>
            <a:srgbClr val="3A3A5C"/>
          </a:solidFill>
          <a:ln w="12700">
            <a:solidFill>
              <a:srgbClr val="3A3A5C"/>
            </a:solidFill>
            <a:prstDash val="solid"/>
          </a:ln>
        </p:spPr>
        <p:txBody>
          <a:bodyPr/>
          <a:lstStyle/>
          <a:p>
            <a:endParaRPr lang="en-US" dirty="0"/>
          </a:p>
        </p:txBody>
      </p:sp>
      <p:pic>
        <p:nvPicPr>
          <p:cNvPr id="5" name="Picture 4">
            <a:extLst>
              <a:ext uri="{FF2B5EF4-FFF2-40B4-BE49-F238E27FC236}">
                <a16:creationId xmlns:a16="http://schemas.microsoft.com/office/drawing/2014/main" id="{F5488635-2AF5-41EC-98CB-19BF9D05155D}"/>
              </a:ext>
            </a:extLst>
          </p:cNvPr>
          <p:cNvPicPr>
            <a:picLocks noChangeAspect="1"/>
          </p:cNvPicPr>
          <p:nvPr/>
        </p:nvPicPr>
        <p:blipFill>
          <a:blip r:embed="rId3"/>
          <a:stretch>
            <a:fillRect/>
          </a:stretch>
        </p:blipFill>
        <p:spPr>
          <a:xfrm>
            <a:off x="266131" y="1216015"/>
            <a:ext cx="3650775" cy="2547818"/>
          </a:xfrm>
          <a:prstGeom prst="rect">
            <a:avLst/>
          </a:prstGeom>
        </p:spPr>
      </p:pic>
      <p:pic>
        <p:nvPicPr>
          <p:cNvPr id="16" name="Picture 15">
            <a:extLst>
              <a:ext uri="{FF2B5EF4-FFF2-40B4-BE49-F238E27FC236}">
                <a16:creationId xmlns:a16="http://schemas.microsoft.com/office/drawing/2014/main" id="{20615688-38F4-4753-8701-DB5AD708CF39}"/>
              </a:ext>
            </a:extLst>
          </p:cNvPr>
          <p:cNvPicPr>
            <a:picLocks noChangeAspect="1"/>
          </p:cNvPicPr>
          <p:nvPr/>
        </p:nvPicPr>
        <p:blipFill>
          <a:blip r:embed="rId4"/>
          <a:stretch>
            <a:fillRect/>
          </a:stretch>
        </p:blipFill>
        <p:spPr>
          <a:xfrm>
            <a:off x="5402210" y="1261644"/>
            <a:ext cx="2803762" cy="2803762"/>
          </a:xfrm>
          <a:prstGeom prst="rect">
            <a:avLst/>
          </a:prstGeom>
        </p:spPr>
      </p:pic>
      <p:pic>
        <p:nvPicPr>
          <p:cNvPr id="21" name="Picture 20">
            <a:extLst>
              <a:ext uri="{FF2B5EF4-FFF2-40B4-BE49-F238E27FC236}">
                <a16:creationId xmlns:a16="http://schemas.microsoft.com/office/drawing/2014/main" id="{06B892D1-B592-4104-B434-E19298DE4AFF}"/>
              </a:ext>
            </a:extLst>
          </p:cNvPr>
          <p:cNvPicPr>
            <a:picLocks noChangeAspect="1"/>
          </p:cNvPicPr>
          <p:nvPr/>
        </p:nvPicPr>
        <p:blipFill>
          <a:blip r:embed="rId4"/>
          <a:stretch>
            <a:fillRect/>
          </a:stretch>
        </p:blipFill>
        <p:spPr>
          <a:xfrm>
            <a:off x="5402210" y="1387015"/>
            <a:ext cx="2803762" cy="2803762"/>
          </a:xfrm>
          <a:prstGeom prst="rect">
            <a:avLst/>
          </a:prstGeom>
        </p:spPr>
      </p:pic>
    </p:spTree>
    <p:extLst>
      <p:ext uri="{BB962C8B-B14F-4D97-AF65-F5344CB8AC3E}">
        <p14:creationId xmlns:p14="http://schemas.microsoft.com/office/powerpoint/2010/main" val="1282707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w="12700">
            <a:solidFill>
              <a:srgbClr val="1B2A4A"/>
            </a:solidFill>
            <a:prstDash val="solid"/>
          </a:ln>
        </p:spPr>
      </p:sp>
      <p:sp>
        <p:nvSpPr>
          <p:cNvPr id="3" name="Text 1"/>
          <p:cNvSpPr/>
          <p:nvPr/>
        </p:nvSpPr>
        <p:spPr>
          <a:xfrm>
            <a:off x="365760" y="0"/>
            <a:ext cx="8412480" cy="749808"/>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Data Cleaning — Remove Duplicates</a:t>
            </a:r>
          </a:p>
        </p:txBody>
      </p:sp>
      <p:sp>
        <p:nvSpPr>
          <p:cNvPr id="6" name="Shape 4"/>
          <p:cNvSpPr/>
          <p:nvPr/>
        </p:nvSpPr>
        <p:spPr>
          <a:xfrm>
            <a:off x="274320" y="941695"/>
            <a:ext cx="3566160" cy="2734329"/>
          </a:xfrm>
          <a:prstGeom prst="rect">
            <a:avLst/>
          </a:prstGeom>
          <a:solidFill>
            <a:srgbClr val="1E1E2E"/>
          </a:solidFill>
          <a:ln w="12700">
            <a:solidFill>
              <a:srgbClr val="3A3A5C"/>
            </a:solidFill>
            <a:prstDash val="solid"/>
          </a:ln>
        </p:spPr>
      </p:sp>
      <p:sp>
        <p:nvSpPr>
          <p:cNvPr id="7" name="Shape 5"/>
          <p:cNvSpPr/>
          <p:nvPr/>
        </p:nvSpPr>
        <p:spPr>
          <a:xfrm>
            <a:off x="274321" y="942173"/>
            <a:ext cx="3566160" cy="274320"/>
          </a:xfrm>
          <a:prstGeom prst="rect">
            <a:avLst/>
          </a:prstGeom>
          <a:solidFill>
            <a:srgbClr val="3A3A5C"/>
          </a:solidFill>
          <a:ln w="12700">
            <a:solidFill>
              <a:srgbClr val="3A3A5C"/>
            </a:solidFill>
            <a:prstDash val="solid"/>
          </a:ln>
        </p:spPr>
        <p:txBody>
          <a:bodyPr/>
          <a:lstStyle/>
          <a:p>
            <a:endParaRPr lang="en-US" dirty="0"/>
          </a:p>
        </p:txBody>
      </p:sp>
      <p:sp>
        <p:nvSpPr>
          <p:cNvPr id="8" name="Text 6"/>
          <p:cNvSpPr/>
          <p:nvPr/>
        </p:nvSpPr>
        <p:spPr>
          <a:xfrm>
            <a:off x="205740" y="931623"/>
            <a:ext cx="4297680" cy="274320"/>
          </a:xfrm>
          <a:prstGeom prst="rect">
            <a:avLst/>
          </a:prstGeom>
          <a:noFill/>
          <a:ln/>
        </p:spPr>
        <p:txBody>
          <a:bodyPr wrap="square" rtlCol="0" anchor="ctr"/>
          <a:lstStyle/>
          <a:p>
            <a:pPr marL="0" indent="0">
              <a:buNone/>
            </a:pPr>
            <a:r>
              <a:rPr lang="en-US" sz="1000" b="1" dirty="0">
                <a:solidFill>
                  <a:srgbClr val="9CDCFE"/>
                </a:solidFill>
                <a:latin typeface="Consolas" pitchFamily="34" charset="0"/>
                <a:ea typeface="Consolas" pitchFamily="34" charset="-122"/>
                <a:cs typeface="Consolas" pitchFamily="34" charset="-120"/>
              </a:rPr>
              <a:t>💻</a:t>
            </a:r>
            <a:endParaRPr lang="en-US" sz="1000" dirty="0"/>
          </a:p>
        </p:txBody>
      </p:sp>
      <p:sp>
        <p:nvSpPr>
          <p:cNvPr id="11" name="Shape 9"/>
          <p:cNvSpPr/>
          <p:nvPr/>
        </p:nvSpPr>
        <p:spPr>
          <a:xfrm>
            <a:off x="5029200" y="941695"/>
            <a:ext cx="3840480" cy="274320"/>
          </a:xfrm>
          <a:prstGeom prst="rect">
            <a:avLst/>
          </a:prstGeom>
          <a:solidFill>
            <a:srgbClr val="CBD5E0"/>
          </a:solidFill>
          <a:ln w="12700">
            <a:solidFill>
              <a:srgbClr val="CBD5E0"/>
            </a:solidFill>
            <a:prstDash val="solid"/>
          </a:ln>
        </p:spPr>
      </p:sp>
      <p:sp>
        <p:nvSpPr>
          <p:cNvPr id="12" name="Text 10"/>
          <p:cNvSpPr/>
          <p:nvPr/>
        </p:nvSpPr>
        <p:spPr>
          <a:xfrm>
            <a:off x="5021011" y="952723"/>
            <a:ext cx="3566160" cy="274320"/>
          </a:xfrm>
          <a:prstGeom prst="rect">
            <a:avLst/>
          </a:prstGeom>
          <a:noFill/>
          <a:ln/>
        </p:spPr>
        <p:txBody>
          <a:bodyPr wrap="square" rtlCol="0" anchor="ctr"/>
          <a:lstStyle/>
          <a:p>
            <a:pPr marL="0" indent="0">
              <a:buNone/>
            </a:pPr>
            <a:r>
              <a:rPr lang="en-US" sz="1000" b="1" dirty="0">
                <a:solidFill>
                  <a:srgbClr val="4A5568"/>
                </a:solidFill>
                <a:latin typeface="Calibri" pitchFamily="34" charset="0"/>
                <a:ea typeface="Calibri" pitchFamily="34" charset="-122"/>
                <a:cs typeface="Calibri" pitchFamily="34" charset="-120"/>
              </a:rPr>
              <a:t>📊 Output</a:t>
            </a:r>
            <a:endParaRPr lang="en-US" sz="1000" dirty="0"/>
          </a:p>
        </p:txBody>
      </p:sp>
      <p:sp>
        <p:nvSpPr>
          <p:cNvPr id="13" name="Text 11"/>
          <p:cNvSpPr/>
          <p:nvPr/>
        </p:nvSpPr>
        <p:spPr>
          <a:xfrm>
            <a:off x="5029200" y="1600200"/>
            <a:ext cx="3840480" cy="1417320"/>
          </a:xfrm>
          <a:prstGeom prst="rect">
            <a:avLst/>
          </a:prstGeom>
          <a:noFill/>
          <a:ln/>
        </p:spPr>
        <p:txBody>
          <a:bodyPr wrap="square" rtlCol="0" anchor="ctr"/>
          <a:lstStyle/>
          <a:p>
            <a:pPr marL="0" indent="0" algn="ctr">
              <a:buNone/>
            </a:pPr>
            <a:r>
              <a:rPr lang="en-US" sz="1300" dirty="0">
                <a:solidFill>
                  <a:srgbClr val="A0AEC0"/>
                </a:solidFill>
                <a:latin typeface="Calibri" pitchFamily="34" charset="0"/>
                <a:ea typeface="Calibri" pitchFamily="34" charset="-122"/>
                <a:cs typeface="Calibri" pitchFamily="34" charset="-120"/>
              </a:rPr>
              <a:t>Chart / Table / Result</a:t>
            </a:r>
            <a:endParaRPr lang="en-US" sz="1300" dirty="0"/>
          </a:p>
        </p:txBody>
      </p:sp>
      <p:sp>
        <p:nvSpPr>
          <p:cNvPr id="22" name="Text 7">
            <a:extLst>
              <a:ext uri="{FF2B5EF4-FFF2-40B4-BE49-F238E27FC236}">
                <a16:creationId xmlns:a16="http://schemas.microsoft.com/office/drawing/2014/main" id="{E2C62793-10EC-4D27-9734-C8A0738D6930}"/>
              </a:ext>
            </a:extLst>
          </p:cNvPr>
          <p:cNvSpPr/>
          <p:nvPr/>
        </p:nvSpPr>
        <p:spPr>
          <a:xfrm>
            <a:off x="274320" y="4091656"/>
            <a:ext cx="4297680" cy="992134"/>
          </a:xfrm>
          <a:prstGeom prst="rect">
            <a:avLst/>
          </a:prstGeom>
          <a:noFill/>
          <a:ln/>
        </p:spPr>
        <p:txBody>
          <a:bodyPr wrap="square" rtlCol="0" anchor="t"/>
          <a:lstStyle/>
          <a:p>
            <a:r>
              <a:rPr lang="en-US" sz="1100" dirty="0"/>
              <a:t>Using CTE with ROW_NUMBER() to identify duplicate records, keeping only the first occurrence ordered by </a:t>
            </a:r>
            <a:r>
              <a:rPr lang="en-US" sz="1100" dirty="0" err="1"/>
              <a:t>Row_ID</a:t>
            </a:r>
            <a:r>
              <a:rPr lang="en-US" sz="1100" dirty="0"/>
              <a:t>. Then deleting all rows where the row number is greater than 1 to ensure each </a:t>
            </a:r>
            <a:r>
              <a:rPr lang="en-US" sz="1100" dirty="0" err="1"/>
              <a:t>Order_ID</a:t>
            </a:r>
            <a:r>
              <a:rPr lang="en-US" sz="1100" dirty="0"/>
              <a:t> and </a:t>
            </a:r>
            <a:r>
              <a:rPr lang="en-US" sz="1100" dirty="0" err="1"/>
              <a:t>Product_ID</a:t>
            </a:r>
            <a:r>
              <a:rPr lang="en-US" sz="1100" dirty="0"/>
              <a:t> combination appears only once.</a:t>
            </a:r>
          </a:p>
        </p:txBody>
      </p:sp>
      <p:sp>
        <p:nvSpPr>
          <p:cNvPr id="27" name="Shape 5">
            <a:extLst>
              <a:ext uri="{FF2B5EF4-FFF2-40B4-BE49-F238E27FC236}">
                <a16:creationId xmlns:a16="http://schemas.microsoft.com/office/drawing/2014/main" id="{4CA32F72-4BF1-4ADF-8954-2C825AC11873}"/>
              </a:ext>
            </a:extLst>
          </p:cNvPr>
          <p:cNvSpPr/>
          <p:nvPr/>
        </p:nvSpPr>
        <p:spPr>
          <a:xfrm>
            <a:off x="205740" y="3911139"/>
            <a:ext cx="3566160" cy="154267"/>
          </a:xfrm>
          <a:prstGeom prst="rect">
            <a:avLst/>
          </a:prstGeom>
          <a:solidFill>
            <a:srgbClr val="3A3A5C"/>
          </a:solidFill>
          <a:ln w="12700">
            <a:solidFill>
              <a:srgbClr val="3A3A5C"/>
            </a:solidFill>
            <a:prstDash val="solid"/>
          </a:ln>
        </p:spPr>
        <p:txBody>
          <a:bodyPr/>
          <a:lstStyle/>
          <a:p>
            <a:endParaRPr lang="en-US" dirty="0"/>
          </a:p>
        </p:txBody>
      </p:sp>
      <p:pic>
        <p:nvPicPr>
          <p:cNvPr id="5" name="Picture 4">
            <a:extLst>
              <a:ext uri="{FF2B5EF4-FFF2-40B4-BE49-F238E27FC236}">
                <a16:creationId xmlns:a16="http://schemas.microsoft.com/office/drawing/2014/main" id="{BD3916FF-7185-49BF-8E62-4FB4AF822B94}"/>
              </a:ext>
            </a:extLst>
          </p:cNvPr>
          <p:cNvPicPr>
            <a:picLocks noChangeAspect="1"/>
          </p:cNvPicPr>
          <p:nvPr/>
        </p:nvPicPr>
        <p:blipFill>
          <a:blip r:embed="rId3"/>
          <a:stretch>
            <a:fillRect/>
          </a:stretch>
        </p:blipFill>
        <p:spPr>
          <a:xfrm>
            <a:off x="225188" y="1216015"/>
            <a:ext cx="3671248" cy="2668874"/>
          </a:xfrm>
          <a:prstGeom prst="rect">
            <a:avLst/>
          </a:prstGeom>
        </p:spPr>
      </p:pic>
      <p:pic>
        <p:nvPicPr>
          <p:cNvPr id="17" name="Picture 16">
            <a:extLst>
              <a:ext uri="{FF2B5EF4-FFF2-40B4-BE49-F238E27FC236}">
                <a16:creationId xmlns:a16="http://schemas.microsoft.com/office/drawing/2014/main" id="{5BCC1702-9CC3-4612-9C85-655149111619}"/>
              </a:ext>
            </a:extLst>
          </p:cNvPr>
          <p:cNvPicPr>
            <a:picLocks noChangeAspect="1"/>
          </p:cNvPicPr>
          <p:nvPr/>
        </p:nvPicPr>
        <p:blipFill>
          <a:blip r:embed="rId4"/>
          <a:stretch>
            <a:fillRect/>
          </a:stretch>
        </p:blipFill>
        <p:spPr>
          <a:xfrm>
            <a:off x="5372102" y="1287894"/>
            <a:ext cx="2803762" cy="2803762"/>
          </a:xfrm>
          <a:prstGeom prst="rect">
            <a:avLst/>
          </a:prstGeom>
        </p:spPr>
      </p:pic>
    </p:spTree>
    <p:extLst>
      <p:ext uri="{BB962C8B-B14F-4D97-AF65-F5344CB8AC3E}">
        <p14:creationId xmlns:p14="http://schemas.microsoft.com/office/powerpoint/2010/main" val="2001442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w="12700">
            <a:solidFill>
              <a:srgbClr val="1B2A4A"/>
            </a:solidFill>
            <a:prstDash val="solid"/>
          </a:ln>
        </p:spPr>
      </p:sp>
      <p:sp>
        <p:nvSpPr>
          <p:cNvPr id="3" name="Text 1"/>
          <p:cNvSpPr/>
          <p:nvPr/>
        </p:nvSpPr>
        <p:spPr>
          <a:xfrm>
            <a:off x="365760" y="0"/>
            <a:ext cx="8412480" cy="749808"/>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Total Sales Analysis</a:t>
            </a:r>
          </a:p>
        </p:txBody>
      </p:sp>
      <p:sp>
        <p:nvSpPr>
          <p:cNvPr id="6" name="Shape 4"/>
          <p:cNvSpPr/>
          <p:nvPr/>
        </p:nvSpPr>
        <p:spPr>
          <a:xfrm>
            <a:off x="274320" y="941695"/>
            <a:ext cx="3566160" cy="2734329"/>
          </a:xfrm>
          <a:prstGeom prst="rect">
            <a:avLst/>
          </a:prstGeom>
          <a:solidFill>
            <a:srgbClr val="1E1E2E"/>
          </a:solidFill>
          <a:ln w="12700">
            <a:solidFill>
              <a:srgbClr val="3A3A5C"/>
            </a:solidFill>
            <a:prstDash val="solid"/>
          </a:ln>
        </p:spPr>
      </p:sp>
      <p:sp>
        <p:nvSpPr>
          <p:cNvPr id="7" name="Shape 5"/>
          <p:cNvSpPr/>
          <p:nvPr/>
        </p:nvSpPr>
        <p:spPr>
          <a:xfrm>
            <a:off x="274321" y="942173"/>
            <a:ext cx="3566160" cy="274320"/>
          </a:xfrm>
          <a:prstGeom prst="rect">
            <a:avLst/>
          </a:prstGeom>
          <a:solidFill>
            <a:srgbClr val="3A3A5C"/>
          </a:solidFill>
          <a:ln w="12700">
            <a:solidFill>
              <a:srgbClr val="3A3A5C"/>
            </a:solidFill>
            <a:prstDash val="solid"/>
          </a:ln>
        </p:spPr>
        <p:txBody>
          <a:bodyPr/>
          <a:lstStyle/>
          <a:p>
            <a:endParaRPr lang="en-US" dirty="0"/>
          </a:p>
        </p:txBody>
      </p:sp>
      <p:sp>
        <p:nvSpPr>
          <p:cNvPr id="8" name="Text 6"/>
          <p:cNvSpPr/>
          <p:nvPr/>
        </p:nvSpPr>
        <p:spPr>
          <a:xfrm>
            <a:off x="205740" y="931623"/>
            <a:ext cx="4297680" cy="274320"/>
          </a:xfrm>
          <a:prstGeom prst="rect">
            <a:avLst/>
          </a:prstGeom>
          <a:noFill/>
          <a:ln/>
        </p:spPr>
        <p:txBody>
          <a:bodyPr wrap="square" rtlCol="0" anchor="ctr"/>
          <a:lstStyle/>
          <a:p>
            <a:pPr marL="0" indent="0">
              <a:buNone/>
            </a:pPr>
            <a:r>
              <a:rPr lang="en-US" sz="1000" b="1" dirty="0">
                <a:solidFill>
                  <a:srgbClr val="9CDCFE"/>
                </a:solidFill>
                <a:latin typeface="Consolas" pitchFamily="34" charset="0"/>
                <a:ea typeface="Consolas" pitchFamily="34" charset="-122"/>
                <a:cs typeface="Consolas" pitchFamily="34" charset="-120"/>
              </a:rPr>
              <a:t>💻</a:t>
            </a:r>
            <a:endParaRPr lang="en-US" sz="1000" dirty="0"/>
          </a:p>
        </p:txBody>
      </p:sp>
      <p:sp>
        <p:nvSpPr>
          <p:cNvPr id="11" name="Shape 9"/>
          <p:cNvSpPr/>
          <p:nvPr/>
        </p:nvSpPr>
        <p:spPr>
          <a:xfrm>
            <a:off x="5029200" y="941695"/>
            <a:ext cx="3840480" cy="274320"/>
          </a:xfrm>
          <a:prstGeom prst="rect">
            <a:avLst/>
          </a:prstGeom>
          <a:solidFill>
            <a:srgbClr val="CBD5E0"/>
          </a:solidFill>
          <a:ln w="12700">
            <a:solidFill>
              <a:srgbClr val="CBD5E0"/>
            </a:solidFill>
            <a:prstDash val="solid"/>
          </a:ln>
        </p:spPr>
      </p:sp>
      <p:sp>
        <p:nvSpPr>
          <p:cNvPr id="12" name="Text 10"/>
          <p:cNvSpPr/>
          <p:nvPr/>
        </p:nvSpPr>
        <p:spPr>
          <a:xfrm>
            <a:off x="5021011" y="952723"/>
            <a:ext cx="3566160" cy="274320"/>
          </a:xfrm>
          <a:prstGeom prst="rect">
            <a:avLst/>
          </a:prstGeom>
          <a:noFill/>
          <a:ln/>
        </p:spPr>
        <p:txBody>
          <a:bodyPr wrap="square" rtlCol="0" anchor="ctr"/>
          <a:lstStyle/>
          <a:p>
            <a:pPr marL="0" indent="0">
              <a:buNone/>
            </a:pPr>
            <a:r>
              <a:rPr lang="en-US" sz="1000" b="1" dirty="0">
                <a:solidFill>
                  <a:srgbClr val="4A5568"/>
                </a:solidFill>
                <a:latin typeface="Calibri" pitchFamily="34" charset="0"/>
                <a:ea typeface="Calibri" pitchFamily="34" charset="-122"/>
                <a:cs typeface="Calibri" pitchFamily="34" charset="-120"/>
              </a:rPr>
              <a:t>📊 Output</a:t>
            </a:r>
            <a:endParaRPr lang="en-US" sz="1000" dirty="0"/>
          </a:p>
        </p:txBody>
      </p:sp>
      <p:sp>
        <p:nvSpPr>
          <p:cNvPr id="13" name="Text 11"/>
          <p:cNvSpPr/>
          <p:nvPr/>
        </p:nvSpPr>
        <p:spPr>
          <a:xfrm>
            <a:off x="5029200" y="1600200"/>
            <a:ext cx="3840480" cy="1417320"/>
          </a:xfrm>
          <a:prstGeom prst="rect">
            <a:avLst/>
          </a:prstGeom>
          <a:noFill/>
          <a:ln/>
        </p:spPr>
        <p:txBody>
          <a:bodyPr wrap="square" rtlCol="0" anchor="ctr"/>
          <a:lstStyle/>
          <a:p>
            <a:pPr marL="0" indent="0" algn="ctr">
              <a:buNone/>
            </a:pPr>
            <a:r>
              <a:rPr lang="en-US" sz="1300" dirty="0">
                <a:solidFill>
                  <a:srgbClr val="A0AEC0"/>
                </a:solidFill>
                <a:latin typeface="Calibri" pitchFamily="34" charset="0"/>
                <a:ea typeface="Calibri" pitchFamily="34" charset="-122"/>
                <a:cs typeface="Calibri" pitchFamily="34" charset="-120"/>
              </a:rPr>
              <a:t>Chart / Table / Result</a:t>
            </a:r>
            <a:endParaRPr lang="en-US" sz="1300" dirty="0"/>
          </a:p>
        </p:txBody>
      </p:sp>
      <p:sp>
        <p:nvSpPr>
          <p:cNvPr id="22" name="Text 7">
            <a:extLst>
              <a:ext uri="{FF2B5EF4-FFF2-40B4-BE49-F238E27FC236}">
                <a16:creationId xmlns:a16="http://schemas.microsoft.com/office/drawing/2014/main" id="{E2C62793-10EC-4D27-9734-C8A0738D6930}"/>
              </a:ext>
            </a:extLst>
          </p:cNvPr>
          <p:cNvSpPr/>
          <p:nvPr/>
        </p:nvSpPr>
        <p:spPr>
          <a:xfrm>
            <a:off x="274320" y="4060208"/>
            <a:ext cx="3497580" cy="1023582"/>
          </a:xfrm>
          <a:prstGeom prst="rect">
            <a:avLst/>
          </a:prstGeom>
          <a:noFill/>
          <a:ln/>
        </p:spPr>
        <p:txBody>
          <a:bodyPr wrap="square" rtlCol="0" anchor="t"/>
          <a:lstStyle/>
          <a:p>
            <a:r>
              <a:rPr lang="en-US" sz="1100" dirty="0"/>
              <a:t>Calculating the total revenue generated across all orders and years using SUM() aggregation on the fact view.</a:t>
            </a:r>
          </a:p>
        </p:txBody>
      </p:sp>
      <p:sp>
        <p:nvSpPr>
          <p:cNvPr id="27" name="Shape 5">
            <a:extLst>
              <a:ext uri="{FF2B5EF4-FFF2-40B4-BE49-F238E27FC236}">
                <a16:creationId xmlns:a16="http://schemas.microsoft.com/office/drawing/2014/main" id="{4CA32F72-4BF1-4ADF-8954-2C825AC11873}"/>
              </a:ext>
            </a:extLst>
          </p:cNvPr>
          <p:cNvSpPr/>
          <p:nvPr/>
        </p:nvSpPr>
        <p:spPr>
          <a:xfrm>
            <a:off x="205740" y="3911139"/>
            <a:ext cx="3566160" cy="154267"/>
          </a:xfrm>
          <a:prstGeom prst="rect">
            <a:avLst/>
          </a:prstGeom>
          <a:solidFill>
            <a:srgbClr val="3A3A5C"/>
          </a:solidFill>
          <a:ln w="12700">
            <a:solidFill>
              <a:srgbClr val="3A3A5C"/>
            </a:solidFill>
            <a:prstDash val="solid"/>
          </a:ln>
        </p:spPr>
        <p:txBody>
          <a:bodyPr/>
          <a:lstStyle/>
          <a:p>
            <a:endParaRPr lang="en-US" dirty="0"/>
          </a:p>
        </p:txBody>
      </p:sp>
      <p:pic>
        <p:nvPicPr>
          <p:cNvPr id="23" name="Picture 22">
            <a:extLst>
              <a:ext uri="{FF2B5EF4-FFF2-40B4-BE49-F238E27FC236}">
                <a16:creationId xmlns:a16="http://schemas.microsoft.com/office/drawing/2014/main" id="{DE78B06E-EDC6-482F-91E8-6A9DECB2108F}"/>
              </a:ext>
            </a:extLst>
          </p:cNvPr>
          <p:cNvPicPr>
            <a:picLocks noChangeAspect="1"/>
          </p:cNvPicPr>
          <p:nvPr/>
        </p:nvPicPr>
        <p:blipFill>
          <a:blip r:embed="rId3"/>
          <a:stretch>
            <a:fillRect/>
          </a:stretch>
        </p:blipFill>
        <p:spPr>
          <a:xfrm>
            <a:off x="205741" y="1227042"/>
            <a:ext cx="3651118" cy="2459053"/>
          </a:xfrm>
          <a:prstGeom prst="rect">
            <a:avLst/>
          </a:prstGeom>
        </p:spPr>
      </p:pic>
      <p:pic>
        <p:nvPicPr>
          <p:cNvPr id="28" name="Picture 27">
            <a:extLst>
              <a:ext uri="{FF2B5EF4-FFF2-40B4-BE49-F238E27FC236}">
                <a16:creationId xmlns:a16="http://schemas.microsoft.com/office/drawing/2014/main" id="{7C96C877-2C99-4244-8727-31615587602F}"/>
              </a:ext>
            </a:extLst>
          </p:cNvPr>
          <p:cNvPicPr>
            <a:picLocks noChangeAspect="1"/>
          </p:cNvPicPr>
          <p:nvPr/>
        </p:nvPicPr>
        <p:blipFill>
          <a:blip r:embed="rId4"/>
          <a:stretch>
            <a:fillRect/>
          </a:stretch>
        </p:blipFill>
        <p:spPr>
          <a:xfrm>
            <a:off x="5711588" y="1709578"/>
            <a:ext cx="2623208" cy="862172"/>
          </a:xfrm>
          <a:prstGeom prst="rect">
            <a:avLst/>
          </a:prstGeom>
        </p:spPr>
      </p:pic>
    </p:spTree>
    <p:extLst>
      <p:ext uri="{BB962C8B-B14F-4D97-AF65-F5344CB8AC3E}">
        <p14:creationId xmlns:p14="http://schemas.microsoft.com/office/powerpoint/2010/main" val="1261041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w="12700">
            <a:solidFill>
              <a:srgbClr val="1B2A4A"/>
            </a:solidFill>
            <a:prstDash val="solid"/>
          </a:ln>
        </p:spPr>
      </p:sp>
      <p:sp>
        <p:nvSpPr>
          <p:cNvPr id="3" name="Text 1"/>
          <p:cNvSpPr/>
          <p:nvPr/>
        </p:nvSpPr>
        <p:spPr>
          <a:xfrm>
            <a:off x="365760" y="0"/>
            <a:ext cx="8412480" cy="749808"/>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Monthly Sales Analysis</a:t>
            </a:r>
          </a:p>
        </p:txBody>
      </p:sp>
      <p:sp>
        <p:nvSpPr>
          <p:cNvPr id="6" name="Shape 4"/>
          <p:cNvSpPr/>
          <p:nvPr/>
        </p:nvSpPr>
        <p:spPr>
          <a:xfrm>
            <a:off x="274320" y="941695"/>
            <a:ext cx="3566160" cy="2734329"/>
          </a:xfrm>
          <a:prstGeom prst="rect">
            <a:avLst/>
          </a:prstGeom>
          <a:solidFill>
            <a:srgbClr val="1E1E2E"/>
          </a:solidFill>
          <a:ln w="12700">
            <a:solidFill>
              <a:srgbClr val="3A3A5C"/>
            </a:solidFill>
            <a:prstDash val="solid"/>
          </a:ln>
        </p:spPr>
      </p:sp>
      <p:sp>
        <p:nvSpPr>
          <p:cNvPr id="7" name="Shape 5"/>
          <p:cNvSpPr/>
          <p:nvPr/>
        </p:nvSpPr>
        <p:spPr>
          <a:xfrm>
            <a:off x="274321" y="942173"/>
            <a:ext cx="3566160" cy="274320"/>
          </a:xfrm>
          <a:prstGeom prst="rect">
            <a:avLst/>
          </a:prstGeom>
          <a:solidFill>
            <a:srgbClr val="3A3A5C"/>
          </a:solidFill>
          <a:ln w="12700">
            <a:solidFill>
              <a:srgbClr val="3A3A5C"/>
            </a:solidFill>
            <a:prstDash val="solid"/>
          </a:ln>
        </p:spPr>
        <p:txBody>
          <a:bodyPr/>
          <a:lstStyle/>
          <a:p>
            <a:endParaRPr lang="en-US" dirty="0"/>
          </a:p>
        </p:txBody>
      </p:sp>
      <p:sp>
        <p:nvSpPr>
          <p:cNvPr id="8" name="Text 6"/>
          <p:cNvSpPr/>
          <p:nvPr/>
        </p:nvSpPr>
        <p:spPr>
          <a:xfrm>
            <a:off x="205740" y="931623"/>
            <a:ext cx="4297680" cy="274320"/>
          </a:xfrm>
          <a:prstGeom prst="rect">
            <a:avLst/>
          </a:prstGeom>
          <a:noFill/>
          <a:ln/>
        </p:spPr>
        <p:txBody>
          <a:bodyPr wrap="square" rtlCol="0" anchor="ctr"/>
          <a:lstStyle/>
          <a:p>
            <a:pPr marL="0" indent="0">
              <a:buNone/>
            </a:pPr>
            <a:r>
              <a:rPr lang="en-US" sz="1000" b="1" dirty="0">
                <a:solidFill>
                  <a:srgbClr val="9CDCFE"/>
                </a:solidFill>
                <a:latin typeface="Consolas" pitchFamily="34" charset="0"/>
                <a:ea typeface="Consolas" pitchFamily="34" charset="-122"/>
                <a:cs typeface="Consolas" pitchFamily="34" charset="-120"/>
              </a:rPr>
              <a:t>💻</a:t>
            </a:r>
            <a:endParaRPr lang="en-US" sz="1000" dirty="0"/>
          </a:p>
        </p:txBody>
      </p:sp>
      <p:sp>
        <p:nvSpPr>
          <p:cNvPr id="10" name="Shape 8"/>
          <p:cNvSpPr/>
          <p:nvPr/>
        </p:nvSpPr>
        <p:spPr>
          <a:xfrm>
            <a:off x="5037389" y="1216015"/>
            <a:ext cx="3840480" cy="2734328"/>
          </a:xfrm>
          <a:prstGeom prst="rect">
            <a:avLst/>
          </a:prstGeom>
          <a:solidFill>
            <a:srgbClr val="F7FAFC"/>
          </a:solidFill>
          <a:ln w="12700">
            <a:solidFill>
              <a:srgbClr val="CBD5E0"/>
            </a:solidFill>
            <a:prstDash val="dash"/>
          </a:ln>
        </p:spPr>
      </p:sp>
      <p:sp>
        <p:nvSpPr>
          <p:cNvPr id="11" name="Shape 9"/>
          <p:cNvSpPr/>
          <p:nvPr/>
        </p:nvSpPr>
        <p:spPr>
          <a:xfrm>
            <a:off x="5029200" y="941695"/>
            <a:ext cx="3840480" cy="274320"/>
          </a:xfrm>
          <a:prstGeom prst="rect">
            <a:avLst/>
          </a:prstGeom>
          <a:solidFill>
            <a:srgbClr val="CBD5E0"/>
          </a:solidFill>
          <a:ln w="12700">
            <a:solidFill>
              <a:srgbClr val="CBD5E0"/>
            </a:solidFill>
            <a:prstDash val="solid"/>
          </a:ln>
        </p:spPr>
      </p:sp>
      <p:sp>
        <p:nvSpPr>
          <p:cNvPr id="12" name="Text 10"/>
          <p:cNvSpPr/>
          <p:nvPr/>
        </p:nvSpPr>
        <p:spPr>
          <a:xfrm>
            <a:off x="5021011" y="952723"/>
            <a:ext cx="3566160" cy="274320"/>
          </a:xfrm>
          <a:prstGeom prst="rect">
            <a:avLst/>
          </a:prstGeom>
          <a:noFill/>
          <a:ln/>
        </p:spPr>
        <p:txBody>
          <a:bodyPr wrap="square" rtlCol="0" anchor="ctr"/>
          <a:lstStyle/>
          <a:p>
            <a:pPr marL="0" indent="0">
              <a:buNone/>
            </a:pPr>
            <a:r>
              <a:rPr lang="en-US" sz="1000" b="1" dirty="0">
                <a:solidFill>
                  <a:srgbClr val="4A5568"/>
                </a:solidFill>
                <a:latin typeface="Calibri" pitchFamily="34" charset="0"/>
                <a:ea typeface="Calibri" pitchFamily="34" charset="-122"/>
                <a:cs typeface="Calibri" pitchFamily="34" charset="-120"/>
              </a:rPr>
              <a:t>📊 Output</a:t>
            </a:r>
            <a:endParaRPr lang="en-US" sz="1000" dirty="0"/>
          </a:p>
        </p:txBody>
      </p:sp>
      <p:sp>
        <p:nvSpPr>
          <p:cNvPr id="13" name="Text 11"/>
          <p:cNvSpPr/>
          <p:nvPr/>
        </p:nvSpPr>
        <p:spPr>
          <a:xfrm>
            <a:off x="5029200" y="1600200"/>
            <a:ext cx="3840480" cy="1417320"/>
          </a:xfrm>
          <a:prstGeom prst="rect">
            <a:avLst/>
          </a:prstGeom>
          <a:noFill/>
          <a:ln/>
        </p:spPr>
        <p:txBody>
          <a:bodyPr wrap="square" rtlCol="0" anchor="ctr"/>
          <a:lstStyle/>
          <a:p>
            <a:pPr marL="0" indent="0" algn="ctr">
              <a:buNone/>
            </a:pPr>
            <a:r>
              <a:rPr lang="en-US" sz="1300" dirty="0">
                <a:solidFill>
                  <a:srgbClr val="A0AEC0"/>
                </a:solidFill>
                <a:latin typeface="Calibri" pitchFamily="34" charset="0"/>
                <a:ea typeface="Calibri" pitchFamily="34" charset="-122"/>
                <a:cs typeface="Calibri" pitchFamily="34" charset="-120"/>
              </a:rPr>
              <a:t>Chart / Table / Result</a:t>
            </a:r>
            <a:endParaRPr lang="en-US" sz="1300" dirty="0"/>
          </a:p>
        </p:txBody>
      </p:sp>
      <p:sp>
        <p:nvSpPr>
          <p:cNvPr id="22" name="Text 7">
            <a:extLst>
              <a:ext uri="{FF2B5EF4-FFF2-40B4-BE49-F238E27FC236}">
                <a16:creationId xmlns:a16="http://schemas.microsoft.com/office/drawing/2014/main" id="{E2C62793-10EC-4D27-9734-C8A0738D6930}"/>
              </a:ext>
            </a:extLst>
          </p:cNvPr>
          <p:cNvSpPr/>
          <p:nvPr/>
        </p:nvSpPr>
        <p:spPr>
          <a:xfrm>
            <a:off x="274320" y="4060208"/>
            <a:ext cx="3497580" cy="1023582"/>
          </a:xfrm>
          <a:prstGeom prst="rect">
            <a:avLst/>
          </a:prstGeom>
          <a:noFill/>
          <a:ln/>
        </p:spPr>
        <p:txBody>
          <a:bodyPr wrap="square" rtlCol="0" anchor="t"/>
          <a:lstStyle/>
          <a:p>
            <a:r>
              <a:rPr lang="en-US" sz="1100" dirty="0"/>
              <a:t>Grouping sales by month using FORMAT() to extract the year-month from the date, then aggregating total sales per month to identify seasonal trends and peak periods.</a:t>
            </a:r>
          </a:p>
        </p:txBody>
      </p:sp>
      <p:sp>
        <p:nvSpPr>
          <p:cNvPr id="27" name="Shape 5">
            <a:extLst>
              <a:ext uri="{FF2B5EF4-FFF2-40B4-BE49-F238E27FC236}">
                <a16:creationId xmlns:a16="http://schemas.microsoft.com/office/drawing/2014/main" id="{4CA32F72-4BF1-4ADF-8954-2C825AC11873}"/>
              </a:ext>
            </a:extLst>
          </p:cNvPr>
          <p:cNvSpPr/>
          <p:nvPr/>
        </p:nvSpPr>
        <p:spPr>
          <a:xfrm>
            <a:off x="205740" y="3911139"/>
            <a:ext cx="3566160" cy="154267"/>
          </a:xfrm>
          <a:prstGeom prst="rect">
            <a:avLst/>
          </a:prstGeom>
          <a:solidFill>
            <a:srgbClr val="3A3A5C"/>
          </a:solidFill>
          <a:ln w="12700">
            <a:solidFill>
              <a:srgbClr val="3A3A5C"/>
            </a:solidFill>
            <a:prstDash val="solid"/>
          </a:ln>
        </p:spPr>
        <p:txBody>
          <a:bodyPr/>
          <a:lstStyle/>
          <a:p>
            <a:endParaRPr lang="en-US" dirty="0"/>
          </a:p>
        </p:txBody>
      </p:sp>
      <p:pic>
        <p:nvPicPr>
          <p:cNvPr id="14" name="Picture 13">
            <a:extLst>
              <a:ext uri="{FF2B5EF4-FFF2-40B4-BE49-F238E27FC236}">
                <a16:creationId xmlns:a16="http://schemas.microsoft.com/office/drawing/2014/main" id="{E3D46E9C-5995-4811-A264-D16922911F54}"/>
              </a:ext>
            </a:extLst>
          </p:cNvPr>
          <p:cNvPicPr>
            <a:picLocks noChangeAspect="1"/>
          </p:cNvPicPr>
          <p:nvPr/>
        </p:nvPicPr>
        <p:blipFill>
          <a:blip r:embed="rId3"/>
          <a:stretch>
            <a:fillRect/>
          </a:stretch>
        </p:blipFill>
        <p:spPr>
          <a:xfrm>
            <a:off x="266131" y="1226565"/>
            <a:ext cx="3637129" cy="2598528"/>
          </a:xfrm>
          <a:prstGeom prst="rect">
            <a:avLst/>
          </a:prstGeom>
        </p:spPr>
      </p:pic>
      <p:pic>
        <p:nvPicPr>
          <p:cNvPr id="16" name="Picture 15">
            <a:extLst>
              <a:ext uri="{FF2B5EF4-FFF2-40B4-BE49-F238E27FC236}">
                <a16:creationId xmlns:a16="http://schemas.microsoft.com/office/drawing/2014/main" id="{D69F5087-E5E0-4BB9-A09F-85F4E1126F34}"/>
              </a:ext>
            </a:extLst>
          </p:cNvPr>
          <p:cNvPicPr>
            <a:picLocks noChangeAspect="1"/>
          </p:cNvPicPr>
          <p:nvPr/>
        </p:nvPicPr>
        <p:blipFill>
          <a:blip r:embed="rId4"/>
          <a:stretch>
            <a:fillRect/>
          </a:stretch>
        </p:blipFill>
        <p:spPr>
          <a:xfrm>
            <a:off x="5010260" y="1193157"/>
            <a:ext cx="1465604" cy="2798175"/>
          </a:xfrm>
          <a:prstGeom prst="rect">
            <a:avLst/>
          </a:prstGeom>
        </p:spPr>
      </p:pic>
      <p:pic>
        <p:nvPicPr>
          <p:cNvPr id="18" name="Picture 17">
            <a:extLst>
              <a:ext uri="{FF2B5EF4-FFF2-40B4-BE49-F238E27FC236}">
                <a16:creationId xmlns:a16="http://schemas.microsoft.com/office/drawing/2014/main" id="{58751A31-C257-4A44-8D67-6C40890B5A27}"/>
              </a:ext>
            </a:extLst>
          </p:cNvPr>
          <p:cNvPicPr>
            <a:picLocks noChangeAspect="1"/>
          </p:cNvPicPr>
          <p:nvPr/>
        </p:nvPicPr>
        <p:blipFill>
          <a:blip r:embed="rId5"/>
          <a:stretch>
            <a:fillRect/>
          </a:stretch>
        </p:blipFill>
        <p:spPr>
          <a:xfrm>
            <a:off x="6475864" y="1205943"/>
            <a:ext cx="1465604" cy="2785389"/>
          </a:xfrm>
          <a:prstGeom prst="rect">
            <a:avLst/>
          </a:prstGeom>
        </p:spPr>
      </p:pic>
      <p:pic>
        <p:nvPicPr>
          <p:cNvPr id="20" name="Picture 19">
            <a:extLst>
              <a:ext uri="{FF2B5EF4-FFF2-40B4-BE49-F238E27FC236}">
                <a16:creationId xmlns:a16="http://schemas.microsoft.com/office/drawing/2014/main" id="{468A88B6-AE1D-4EFB-84F6-C2AF8CA7F32A}"/>
              </a:ext>
            </a:extLst>
          </p:cNvPr>
          <p:cNvPicPr>
            <a:picLocks noChangeAspect="1"/>
          </p:cNvPicPr>
          <p:nvPr/>
        </p:nvPicPr>
        <p:blipFill>
          <a:blip r:embed="rId6"/>
          <a:stretch>
            <a:fillRect/>
          </a:stretch>
        </p:blipFill>
        <p:spPr>
          <a:xfrm>
            <a:off x="7941469" y="1237245"/>
            <a:ext cx="963530" cy="2723169"/>
          </a:xfrm>
          <a:prstGeom prst="rect">
            <a:avLst/>
          </a:prstGeom>
        </p:spPr>
      </p:pic>
    </p:spTree>
    <p:extLst>
      <p:ext uri="{BB962C8B-B14F-4D97-AF65-F5344CB8AC3E}">
        <p14:creationId xmlns:p14="http://schemas.microsoft.com/office/powerpoint/2010/main" val="3626177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w="12700">
            <a:solidFill>
              <a:srgbClr val="1B2A4A"/>
            </a:solidFill>
            <a:prstDash val="solid"/>
          </a:ln>
        </p:spPr>
      </p:sp>
      <p:sp>
        <p:nvSpPr>
          <p:cNvPr id="3" name="Text 1"/>
          <p:cNvSpPr/>
          <p:nvPr/>
        </p:nvSpPr>
        <p:spPr>
          <a:xfrm>
            <a:off x="365760" y="0"/>
            <a:ext cx="8412480" cy="749808"/>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Yearly Sales Analysis</a:t>
            </a:r>
          </a:p>
        </p:txBody>
      </p:sp>
      <p:sp>
        <p:nvSpPr>
          <p:cNvPr id="6" name="Shape 4"/>
          <p:cNvSpPr/>
          <p:nvPr/>
        </p:nvSpPr>
        <p:spPr>
          <a:xfrm>
            <a:off x="274320" y="941695"/>
            <a:ext cx="3566160" cy="2734329"/>
          </a:xfrm>
          <a:prstGeom prst="rect">
            <a:avLst/>
          </a:prstGeom>
          <a:solidFill>
            <a:srgbClr val="1E1E2E"/>
          </a:solidFill>
          <a:ln w="12700">
            <a:solidFill>
              <a:srgbClr val="3A3A5C"/>
            </a:solidFill>
            <a:prstDash val="solid"/>
          </a:ln>
        </p:spPr>
      </p:sp>
      <p:sp>
        <p:nvSpPr>
          <p:cNvPr id="7" name="Shape 5"/>
          <p:cNvSpPr/>
          <p:nvPr/>
        </p:nvSpPr>
        <p:spPr>
          <a:xfrm>
            <a:off x="274321" y="942173"/>
            <a:ext cx="3566160" cy="274320"/>
          </a:xfrm>
          <a:prstGeom prst="rect">
            <a:avLst/>
          </a:prstGeom>
          <a:solidFill>
            <a:srgbClr val="3A3A5C"/>
          </a:solidFill>
          <a:ln w="12700">
            <a:solidFill>
              <a:srgbClr val="3A3A5C"/>
            </a:solidFill>
            <a:prstDash val="solid"/>
          </a:ln>
        </p:spPr>
        <p:txBody>
          <a:bodyPr/>
          <a:lstStyle/>
          <a:p>
            <a:endParaRPr lang="en-US" dirty="0"/>
          </a:p>
        </p:txBody>
      </p:sp>
      <p:sp>
        <p:nvSpPr>
          <p:cNvPr id="8" name="Text 6"/>
          <p:cNvSpPr/>
          <p:nvPr/>
        </p:nvSpPr>
        <p:spPr>
          <a:xfrm>
            <a:off x="205740" y="931623"/>
            <a:ext cx="4297680" cy="274320"/>
          </a:xfrm>
          <a:prstGeom prst="rect">
            <a:avLst/>
          </a:prstGeom>
          <a:noFill/>
          <a:ln/>
        </p:spPr>
        <p:txBody>
          <a:bodyPr wrap="square" rtlCol="0" anchor="ctr"/>
          <a:lstStyle/>
          <a:p>
            <a:pPr marL="0" indent="0">
              <a:buNone/>
            </a:pPr>
            <a:r>
              <a:rPr lang="en-US" sz="1000" b="1" dirty="0">
                <a:solidFill>
                  <a:srgbClr val="9CDCFE"/>
                </a:solidFill>
                <a:latin typeface="Consolas" pitchFamily="34" charset="0"/>
                <a:ea typeface="Consolas" pitchFamily="34" charset="-122"/>
                <a:cs typeface="Consolas" pitchFamily="34" charset="-120"/>
              </a:rPr>
              <a:t>💻</a:t>
            </a:r>
            <a:endParaRPr lang="en-US" sz="1000" dirty="0"/>
          </a:p>
        </p:txBody>
      </p:sp>
      <p:sp>
        <p:nvSpPr>
          <p:cNvPr id="11" name="Shape 9"/>
          <p:cNvSpPr/>
          <p:nvPr/>
        </p:nvSpPr>
        <p:spPr>
          <a:xfrm>
            <a:off x="5029200" y="941695"/>
            <a:ext cx="3840480" cy="274320"/>
          </a:xfrm>
          <a:prstGeom prst="rect">
            <a:avLst/>
          </a:prstGeom>
          <a:solidFill>
            <a:srgbClr val="CBD5E0"/>
          </a:solidFill>
          <a:ln w="12700">
            <a:solidFill>
              <a:srgbClr val="CBD5E0"/>
            </a:solidFill>
            <a:prstDash val="solid"/>
          </a:ln>
        </p:spPr>
      </p:sp>
      <p:sp>
        <p:nvSpPr>
          <p:cNvPr id="12" name="Text 10"/>
          <p:cNvSpPr/>
          <p:nvPr/>
        </p:nvSpPr>
        <p:spPr>
          <a:xfrm>
            <a:off x="5021011" y="952723"/>
            <a:ext cx="3566160" cy="274320"/>
          </a:xfrm>
          <a:prstGeom prst="rect">
            <a:avLst/>
          </a:prstGeom>
          <a:noFill/>
          <a:ln/>
        </p:spPr>
        <p:txBody>
          <a:bodyPr wrap="square" rtlCol="0" anchor="ctr"/>
          <a:lstStyle/>
          <a:p>
            <a:pPr marL="0" indent="0">
              <a:buNone/>
            </a:pPr>
            <a:r>
              <a:rPr lang="en-US" sz="1000" b="1" dirty="0">
                <a:solidFill>
                  <a:srgbClr val="4A5568"/>
                </a:solidFill>
                <a:latin typeface="Calibri" pitchFamily="34" charset="0"/>
                <a:ea typeface="Calibri" pitchFamily="34" charset="-122"/>
                <a:cs typeface="Calibri" pitchFamily="34" charset="-120"/>
              </a:rPr>
              <a:t>📊 Output</a:t>
            </a:r>
            <a:endParaRPr lang="en-US" sz="1000" dirty="0"/>
          </a:p>
        </p:txBody>
      </p:sp>
      <p:sp>
        <p:nvSpPr>
          <p:cNvPr id="13" name="Text 11"/>
          <p:cNvSpPr/>
          <p:nvPr/>
        </p:nvSpPr>
        <p:spPr>
          <a:xfrm>
            <a:off x="5029200" y="1600200"/>
            <a:ext cx="3840480" cy="1417320"/>
          </a:xfrm>
          <a:prstGeom prst="rect">
            <a:avLst/>
          </a:prstGeom>
          <a:noFill/>
          <a:ln/>
        </p:spPr>
        <p:txBody>
          <a:bodyPr wrap="square" rtlCol="0" anchor="ctr"/>
          <a:lstStyle/>
          <a:p>
            <a:pPr marL="0" indent="0" algn="ctr">
              <a:buNone/>
            </a:pPr>
            <a:r>
              <a:rPr lang="en-US" sz="1300" dirty="0">
                <a:solidFill>
                  <a:srgbClr val="A0AEC0"/>
                </a:solidFill>
                <a:latin typeface="Calibri" pitchFamily="34" charset="0"/>
                <a:ea typeface="Calibri" pitchFamily="34" charset="-122"/>
                <a:cs typeface="Calibri" pitchFamily="34" charset="-120"/>
              </a:rPr>
              <a:t>Chart / Table / Result</a:t>
            </a:r>
            <a:endParaRPr lang="en-US" sz="1300" dirty="0"/>
          </a:p>
        </p:txBody>
      </p:sp>
      <p:sp>
        <p:nvSpPr>
          <p:cNvPr id="22" name="Text 7">
            <a:extLst>
              <a:ext uri="{FF2B5EF4-FFF2-40B4-BE49-F238E27FC236}">
                <a16:creationId xmlns:a16="http://schemas.microsoft.com/office/drawing/2014/main" id="{E2C62793-10EC-4D27-9734-C8A0738D6930}"/>
              </a:ext>
            </a:extLst>
          </p:cNvPr>
          <p:cNvSpPr/>
          <p:nvPr/>
        </p:nvSpPr>
        <p:spPr>
          <a:xfrm>
            <a:off x="274320" y="4060208"/>
            <a:ext cx="3497580" cy="1023582"/>
          </a:xfrm>
          <a:prstGeom prst="rect">
            <a:avLst/>
          </a:prstGeom>
          <a:noFill/>
          <a:ln/>
        </p:spPr>
        <p:txBody>
          <a:bodyPr wrap="square" rtlCol="0" anchor="t"/>
          <a:lstStyle/>
          <a:p>
            <a:r>
              <a:rPr lang="en-US" sz="1100" dirty="0"/>
              <a:t>Grouping sales by year using FORMAT() to extract the year from the date, then aggregating total sales per year to track revenue growth over time.</a:t>
            </a:r>
          </a:p>
        </p:txBody>
      </p:sp>
      <p:sp>
        <p:nvSpPr>
          <p:cNvPr id="27" name="Shape 5">
            <a:extLst>
              <a:ext uri="{FF2B5EF4-FFF2-40B4-BE49-F238E27FC236}">
                <a16:creationId xmlns:a16="http://schemas.microsoft.com/office/drawing/2014/main" id="{4CA32F72-4BF1-4ADF-8954-2C825AC11873}"/>
              </a:ext>
            </a:extLst>
          </p:cNvPr>
          <p:cNvSpPr/>
          <p:nvPr/>
        </p:nvSpPr>
        <p:spPr>
          <a:xfrm>
            <a:off x="205740" y="3911139"/>
            <a:ext cx="3566160" cy="154267"/>
          </a:xfrm>
          <a:prstGeom prst="rect">
            <a:avLst/>
          </a:prstGeom>
          <a:solidFill>
            <a:srgbClr val="3A3A5C"/>
          </a:solidFill>
          <a:ln w="12700">
            <a:solidFill>
              <a:srgbClr val="3A3A5C"/>
            </a:solidFill>
            <a:prstDash val="solid"/>
          </a:ln>
        </p:spPr>
        <p:txBody>
          <a:bodyPr/>
          <a:lstStyle/>
          <a:p>
            <a:endParaRPr lang="en-US" dirty="0"/>
          </a:p>
        </p:txBody>
      </p:sp>
      <p:pic>
        <p:nvPicPr>
          <p:cNvPr id="5" name="Picture 4">
            <a:extLst>
              <a:ext uri="{FF2B5EF4-FFF2-40B4-BE49-F238E27FC236}">
                <a16:creationId xmlns:a16="http://schemas.microsoft.com/office/drawing/2014/main" id="{882C16DF-3FD3-44F5-932D-0DB319FB6CF4}"/>
              </a:ext>
            </a:extLst>
          </p:cNvPr>
          <p:cNvPicPr>
            <a:picLocks noChangeAspect="1"/>
          </p:cNvPicPr>
          <p:nvPr/>
        </p:nvPicPr>
        <p:blipFill>
          <a:blip r:embed="rId3"/>
          <a:stretch>
            <a:fillRect/>
          </a:stretch>
        </p:blipFill>
        <p:spPr>
          <a:xfrm>
            <a:off x="266132" y="1211677"/>
            <a:ext cx="3657600" cy="2561929"/>
          </a:xfrm>
          <a:prstGeom prst="rect">
            <a:avLst/>
          </a:prstGeom>
        </p:spPr>
      </p:pic>
      <p:pic>
        <p:nvPicPr>
          <p:cNvPr id="15" name="Picture 14">
            <a:extLst>
              <a:ext uri="{FF2B5EF4-FFF2-40B4-BE49-F238E27FC236}">
                <a16:creationId xmlns:a16="http://schemas.microsoft.com/office/drawing/2014/main" id="{F8EA8E94-0CA2-4626-96DF-AB9D1C989CA2}"/>
              </a:ext>
            </a:extLst>
          </p:cNvPr>
          <p:cNvPicPr>
            <a:picLocks noChangeAspect="1"/>
          </p:cNvPicPr>
          <p:nvPr/>
        </p:nvPicPr>
        <p:blipFill>
          <a:blip r:embed="rId4"/>
          <a:stretch>
            <a:fillRect/>
          </a:stretch>
        </p:blipFill>
        <p:spPr>
          <a:xfrm>
            <a:off x="5586572" y="1705399"/>
            <a:ext cx="2358108" cy="1563240"/>
          </a:xfrm>
          <a:prstGeom prst="rect">
            <a:avLst/>
          </a:prstGeom>
        </p:spPr>
      </p:pic>
    </p:spTree>
    <p:extLst>
      <p:ext uri="{BB962C8B-B14F-4D97-AF65-F5344CB8AC3E}">
        <p14:creationId xmlns:p14="http://schemas.microsoft.com/office/powerpoint/2010/main" val="2288799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w="12700">
            <a:solidFill>
              <a:srgbClr val="1B2A4A"/>
            </a:solidFill>
            <a:prstDash val="solid"/>
          </a:ln>
        </p:spPr>
      </p:sp>
      <p:sp>
        <p:nvSpPr>
          <p:cNvPr id="3" name="Text 1"/>
          <p:cNvSpPr/>
          <p:nvPr/>
        </p:nvSpPr>
        <p:spPr>
          <a:xfrm>
            <a:off x="365760" y="0"/>
            <a:ext cx="8412480" cy="749808"/>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Regional Sales Analysis</a:t>
            </a:r>
          </a:p>
        </p:txBody>
      </p:sp>
      <p:sp>
        <p:nvSpPr>
          <p:cNvPr id="6" name="Shape 4"/>
          <p:cNvSpPr/>
          <p:nvPr/>
        </p:nvSpPr>
        <p:spPr>
          <a:xfrm>
            <a:off x="274320" y="941695"/>
            <a:ext cx="3566160" cy="2734329"/>
          </a:xfrm>
          <a:prstGeom prst="rect">
            <a:avLst/>
          </a:prstGeom>
          <a:solidFill>
            <a:srgbClr val="1E1E2E"/>
          </a:solidFill>
          <a:ln w="12700">
            <a:solidFill>
              <a:srgbClr val="3A3A5C"/>
            </a:solidFill>
            <a:prstDash val="solid"/>
          </a:ln>
        </p:spPr>
      </p:sp>
      <p:sp>
        <p:nvSpPr>
          <p:cNvPr id="7" name="Shape 5"/>
          <p:cNvSpPr/>
          <p:nvPr/>
        </p:nvSpPr>
        <p:spPr>
          <a:xfrm>
            <a:off x="274321" y="942173"/>
            <a:ext cx="3566160" cy="274320"/>
          </a:xfrm>
          <a:prstGeom prst="rect">
            <a:avLst/>
          </a:prstGeom>
          <a:solidFill>
            <a:srgbClr val="3A3A5C"/>
          </a:solidFill>
          <a:ln w="12700">
            <a:solidFill>
              <a:srgbClr val="3A3A5C"/>
            </a:solidFill>
            <a:prstDash val="solid"/>
          </a:ln>
        </p:spPr>
        <p:txBody>
          <a:bodyPr/>
          <a:lstStyle/>
          <a:p>
            <a:endParaRPr lang="en-US" dirty="0"/>
          </a:p>
        </p:txBody>
      </p:sp>
      <p:sp>
        <p:nvSpPr>
          <p:cNvPr id="8" name="Text 6"/>
          <p:cNvSpPr/>
          <p:nvPr/>
        </p:nvSpPr>
        <p:spPr>
          <a:xfrm>
            <a:off x="205740" y="931623"/>
            <a:ext cx="4297680" cy="274320"/>
          </a:xfrm>
          <a:prstGeom prst="rect">
            <a:avLst/>
          </a:prstGeom>
          <a:noFill/>
          <a:ln/>
        </p:spPr>
        <p:txBody>
          <a:bodyPr wrap="square" rtlCol="0" anchor="ctr"/>
          <a:lstStyle/>
          <a:p>
            <a:pPr marL="0" indent="0">
              <a:buNone/>
            </a:pPr>
            <a:r>
              <a:rPr lang="en-US" sz="1000" b="1" dirty="0">
                <a:solidFill>
                  <a:srgbClr val="9CDCFE"/>
                </a:solidFill>
                <a:latin typeface="Consolas" pitchFamily="34" charset="0"/>
                <a:ea typeface="Consolas" pitchFamily="34" charset="-122"/>
                <a:cs typeface="Consolas" pitchFamily="34" charset="-120"/>
              </a:rPr>
              <a:t>💻</a:t>
            </a:r>
            <a:endParaRPr lang="en-US" sz="1000" dirty="0"/>
          </a:p>
        </p:txBody>
      </p:sp>
      <p:sp>
        <p:nvSpPr>
          <p:cNvPr id="11" name="Shape 9"/>
          <p:cNvSpPr/>
          <p:nvPr/>
        </p:nvSpPr>
        <p:spPr>
          <a:xfrm>
            <a:off x="5029200" y="941695"/>
            <a:ext cx="3840480" cy="274320"/>
          </a:xfrm>
          <a:prstGeom prst="rect">
            <a:avLst/>
          </a:prstGeom>
          <a:solidFill>
            <a:srgbClr val="CBD5E0"/>
          </a:solidFill>
          <a:ln w="12700">
            <a:solidFill>
              <a:srgbClr val="CBD5E0"/>
            </a:solidFill>
            <a:prstDash val="solid"/>
          </a:ln>
        </p:spPr>
      </p:sp>
      <p:sp>
        <p:nvSpPr>
          <p:cNvPr id="12" name="Text 10"/>
          <p:cNvSpPr/>
          <p:nvPr/>
        </p:nvSpPr>
        <p:spPr>
          <a:xfrm>
            <a:off x="5021011" y="952723"/>
            <a:ext cx="3566160" cy="274320"/>
          </a:xfrm>
          <a:prstGeom prst="rect">
            <a:avLst/>
          </a:prstGeom>
          <a:noFill/>
          <a:ln/>
        </p:spPr>
        <p:txBody>
          <a:bodyPr wrap="square" rtlCol="0" anchor="ctr"/>
          <a:lstStyle/>
          <a:p>
            <a:pPr marL="0" indent="0">
              <a:buNone/>
            </a:pPr>
            <a:r>
              <a:rPr lang="en-US" sz="1000" b="1" dirty="0">
                <a:solidFill>
                  <a:srgbClr val="4A5568"/>
                </a:solidFill>
                <a:latin typeface="Calibri" pitchFamily="34" charset="0"/>
                <a:ea typeface="Calibri" pitchFamily="34" charset="-122"/>
                <a:cs typeface="Calibri" pitchFamily="34" charset="-120"/>
              </a:rPr>
              <a:t>📊 Output</a:t>
            </a:r>
            <a:endParaRPr lang="en-US" sz="1000" dirty="0"/>
          </a:p>
        </p:txBody>
      </p:sp>
      <p:sp>
        <p:nvSpPr>
          <p:cNvPr id="13" name="Text 11"/>
          <p:cNvSpPr/>
          <p:nvPr/>
        </p:nvSpPr>
        <p:spPr>
          <a:xfrm>
            <a:off x="5029200" y="1600200"/>
            <a:ext cx="3840480" cy="1417320"/>
          </a:xfrm>
          <a:prstGeom prst="rect">
            <a:avLst/>
          </a:prstGeom>
          <a:noFill/>
          <a:ln/>
        </p:spPr>
        <p:txBody>
          <a:bodyPr wrap="square" rtlCol="0" anchor="ctr"/>
          <a:lstStyle/>
          <a:p>
            <a:pPr marL="0" indent="0" algn="ctr">
              <a:buNone/>
            </a:pPr>
            <a:r>
              <a:rPr lang="en-US" sz="1300" dirty="0">
                <a:solidFill>
                  <a:srgbClr val="A0AEC0"/>
                </a:solidFill>
                <a:latin typeface="Calibri" pitchFamily="34" charset="0"/>
                <a:ea typeface="Calibri" pitchFamily="34" charset="-122"/>
                <a:cs typeface="Calibri" pitchFamily="34" charset="-120"/>
              </a:rPr>
              <a:t>Chart / Table / Result</a:t>
            </a:r>
            <a:endParaRPr lang="en-US" sz="1300" dirty="0"/>
          </a:p>
        </p:txBody>
      </p:sp>
      <p:sp>
        <p:nvSpPr>
          <p:cNvPr id="22" name="Text 7">
            <a:extLst>
              <a:ext uri="{FF2B5EF4-FFF2-40B4-BE49-F238E27FC236}">
                <a16:creationId xmlns:a16="http://schemas.microsoft.com/office/drawing/2014/main" id="{E2C62793-10EC-4D27-9734-C8A0738D6930}"/>
              </a:ext>
            </a:extLst>
          </p:cNvPr>
          <p:cNvSpPr/>
          <p:nvPr/>
        </p:nvSpPr>
        <p:spPr>
          <a:xfrm>
            <a:off x="274320" y="4060208"/>
            <a:ext cx="3497580" cy="1023582"/>
          </a:xfrm>
          <a:prstGeom prst="rect">
            <a:avLst/>
          </a:prstGeom>
          <a:noFill/>
          <a:ln/>
        </p:spPr>
        <p:txBody>
          <a:bodyPr wrap="square" rtlCol="0" anchor="t"/>
          <a:lstStyle/>
          <a:p>
            <a:r>
              <a:rPr lang="en-US" sz="1100" dirty="0"/>
              <a:t>Joining the fact view with the customers dimension view to get the region for each order, then grouping and aggregating sales by region to identify the highest performing areas.</a:t>
            </a:r>
          </a:p>
        </p:txBody>
      </p:sp>
      <p:sp>
        <p:nvSpPr>
          <p:cNvPr id="27" name="Shape 5">
            <a:extLst>
              <a:ext uri="{FF2B5EF4-FFF2-40B4-BE49-F238E27FC236}">
                <a16:creationId xmlns:a16="http://schemas.microsoft.com/office/drawing/2014/main" id="{4CA32F72-4BF1-4ADF-8954-2C825AC11873}"/>
              </a:ext>
            </a:extLst>
          </p:cNvPr>
          <p:cNvSpPr/>
          <p:nvPr/>
        </p:nvSpPr>
        <p:spPr>
          <a:xfrm>
            <a:off x="205740" y="3911139"/>
            <a:ext cx="3566160" cy="154267"/>
          </a:xfrm>
          <a:prstGeom prst="rect">
            <a:avLst/>
          </a:prstGeom>
          <a:solidFill>
            <a:srgbClr val="3A3A5C"/>
          </a:solidFill>
          <a:ln w="12700">
            <a:solidFill>
              <a:srgbClr val="3A3A5C"/>
            </a:solidFill>
            <a:prstDash val="solid"/>
          </a:ln>
        </p:spPr>
        <p:txBody>
          <a:bodyPr/>
          <a:lstStyle/>
          <a:p>
            <a:endParaRPr lang="en-US" dirty="0"/>
          </a:p>
        </p:txBody>
      </p:sp>
      <p:pic>
        <p:nvPicPr>
          <p:cNvPr id="5" name="Picture 4">
            <a:extLst>
              <a:ext uri="{FF2B5EF4-FFF2-40B4-BE49-F238E27FC236}">
                <a16:creationId xmlns:a16="http://schemas.microsoft.com/office/drawing/2014/main" id="{A642501F-6522-44ED-A77E-C4A081BBA021}"/>
              </a:ext>
            </a:extLst>
          </p:cNvPr>
          <p:cNvPicPr>
            <a:picLocks noChangeAspect="1"/>
          </p:cNvPicPr>
          <p:nvPr/>
        </p:nvPicPr>
        <p:blipFill>
          <a:blip r:embed="rId3"/>
          <a:stretch>
            <a:fillRect/>
          </a:stretch>
        </p:blipFill>
        <p:spPr>
          <a:xfrm>
            <a:off x="205741" y="1205943"/>
            <a:ext cx="3703320" cy="2619150"/>
          </a:xfrm>
          <a:prstGeom prst="rect">
            <a:avLst/>
          </a:prstGeom>
        </p:spPr>
      </p:pic>
      <p:pic>
        <p:nvPicPr>
          <p:cNvPr id="15" name="Picture 14">
            <a:extLst>
              <a:ext uri="{FF2B5EF4-FFF2-40B4-BE49-F238E27FC236}">
                <a16:creationId xmlns:a16="http://schemas.microsoft.com/office/drawing/2014/main" id="{7A83AB9B-AE95-4606-A409-4CC78D0806BC}"/>
              </a:ext>
            </a:extLst>
          </p:cNvPr>
          <p:cNvPicPr>
            <a:picLocks noChangeAspect="1"/>
          </p:cNvPicPr>
          <p:nvPr/>
        </p:nvPicPr>
        <p:blipFill>
          <a:blip r:embed="rId4"/>
          <a:stretch>
            <a:fillRect/>
          </a:stretch>
        </p:blipFill>
        <p:spPr>
          <a:xfrm>
            <a:off x="5594476" y="1600200"/>
            <a:ext cx="2419230" cy="1521371"/>
          </a:xfrm>
          <a:prstGeom prst="rect">
            <a:avLst/>
          </a:prstGeom>
        </p:spPr>
      </p:pic>
    </p:spTree>
    <p:extLst>
      <p:ext uri="{BB962C8B-B14F-4D97-AF65-F5344CB8AC3E}">
        <p14:creationId xmlns:p14="http://schemas.microsoft.com/office/powerpoint/2010/main" val="2191955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w="12700">
            <a:solidFill>
              <a:srgbClr val="1B2A4A"/>
            </a:solidFill>
            <a:prstDash val="solid"/>
          </a:ln>
        </p:spPr>
      </p:sp>
      <p:sp>
        <p:nvSpPr>
          <p:cNvPr id="3" name="Text 1"/>
          <p:cNvSpPr/>
          <p:nvPr/>
        </p:nvSpPr>
        <p:spPr>
          <a:xfrm>
            <a:off x="365760" y="0"/>
            <a:ext cx="8412480" cy="74980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Dashboard Overview</a:t>
            </a:r>
            <a:endParaRPr lang="en-US" sz="2400" dirty="0"/>
          </a:p>
        </p:txBody>
      </p:sp>
      <p:sp>
        <p:nvSpPr>
          <p:cNvPr id="4" name="Shape 2"/>
          <p:cNvSpPr/>
          <p:nvPr/>
        </p:nvSpPr>
        <p:spPr>
          <a:xfrm>
            <a:off x="274320" y="914400"/>
            <a:ext cx="8595360" cy="3840480"/>
          </a:xfrm>
          <a:prstGeom prst="rect">
            <a:avLst/>
          </a:prstGeom>
          <a:ln/>
        </p:spPr>
        <p:style>
          <a:lnRef idx="0">
            <a:schemeClr val="accent3"/>
          </a:lnRef>
          <a:fillRef idx="3">
            <a:schemeClr val="accent3"/>
          </a:fillRef>
          <a:effectRef idx="3">
            <a:schemeClr val="accent3"/>
          </a:effectRef>
          <a:fontRef idx="minor">
            <a:schemeClr val="lt1"/>
          </a:fontRef>
        </p:style>
        <p:txBody>
          <a:bodyPr/>
          <a:lstStyle/>
          <a:p>
            <a:endParaRPr lang="en-US"/>
          </a:p>
        </p:txBody>
      </p:sp>
      <p:sp>
        <p:nvSpPr>
          <p:cNvPr id="5" name="Shape 3"/>
          <p:cNvSpPr/>
          <p:nvPr/>
        </p:nvSpPr>
        <p:spPr>
          <a:xfrm>
            <a:off x="3886200" y="2011680"/>
            <a:ext cx="1371600" cy="914400"/>
          </a:xfrm>
          <a:prstGeom prst="rect">
            <a:avLst/>
          </a:prstGeom>
          <a:solidFill>
            <a:srgbClr val="D6E4F7"/>
          </a:solidFill>
          <a:ln w="12700">
            <a:solidFill>
              <a:srgbClr val="D6E4F7"/>
            </a:solidFill>
            <a:prstDash val="solid"/>
          </a:ln>
        </p:spPr>
      </p:sp>
      <p:sp>
        <p:nvSpPr>
          <p:cNvPr id="6" name="Text 4"/>
          <p:cNvSpPr/>
          <p:nvPr/>
        </p:nvSpPr>
        <p:spPr>
          <a:xfrm>
            <a:off x="3886200" y="2011680"/>
            <a:ext cx="1371600" cy="914400"/>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7" name="Text 5"/>
          <p:cNvSpPr/>
          <p:nvPr/>
        </p:nvSpPr>
        <p:spPr>
          <a:xfrm>
            <a:off x="274320" y="3017520"/>
            <a:ext cx="8595360" cy="502920"/>
          </a:xfrm>
          <a:prstGeom prst="rect">
            <a:avLst/>
          </a:prstGeom>
          <a:noFill/>
          <a:ln/>
        </p:spPr>
        <p:txBody>
          <a:bodyPr wrap="square" rtlCol="0" anchor="ctr"/>
          <a:lstStyle/>
          <a:p>
            <a:pPr marL="0" indent="0" algn="ctr">
              <a:buNone/>
            </a:pPr>
            <a:r>
              <a:rPr lang="en-US" sz="1600" b="1" dirty="0">
                <a:solidFill>
                  <a:srgbClr val="A0AEC0"/>
                </a:solidFill>
                <a:latin typeface="Calibri" pitchFamily="34" charset="0"/>
                <a:ea typeface="Calibri" pitchFamily="34" charset="-122"/>
                <a:cs typeface="Calibri" pitchFamily="34" charset="-120"/>
              </a:rPr>
              <a:t>Insert Dashboard Screenshot Here</a:t>
            </a:r>
            <a:endParaRPr lang="en-US" sz="1600" dirty="0"/>
          </a:p>
        </p:txBody>
      </p:sp>
      <p:sp>
        <p:nvSpPr>
          <p:cNvPr id="8" name="Text 6"/>
          <p:cNvSpPr/>
          <p:nvPr/>
        </p:nvSpPr>
        <p:spPr>
          <a:xfrm>
            <a:off x="274320" y="3547872"/>
            <a:ext cx="8595360" cy="320040"/>
          </a:xfrm>
          <a:prstGeom prst="rect">
            <a:avLst/>
          </a:prstGeom>
          <a:noFill/>
          <a:ln/>
        </p:spPr>
        <p:txBody>
          <a:bodyPr wrap="square" rtlCol="0" anchor="ctr"/>
          <a:lstStyle/>
          <a:p>
            <a:pPr marL="0" indent="0" algn="ctr">
              <a:buNone/>
            </a:pPr>
            <a:r>
              <a:rPr lang="en-US" sz="1100" dirty="0">
                <a:solidFill>
                  <a:srgbClr val="A0AEC0"/>
                </a:solidFill>
                <a:latin typeface="Calibri" pitchFamily="34" charset="0"/>
                <a:ea typeface="Calibri" pitchFamily="34" charset="-122"/>
                <a:cs typeface="Calibri" pitchFamily="34" charset="-120"/>
              </a:rPr>
              <a:t>(Right-click → Format Picture → Replace image)</a:t>
            </a:r>
            <a:endParaRPr lang="en-US" sz="1100" dirty="0"/>
          </a:p>
        </p:txBody>
      </p:sp>
      <p:pic>
        <p:nvPicPr>
          <p:cNvPr id="10" name="Picture 9">
            <a:extLst>
              <a:ext uri="{FF2B5EF4-FFF2-40B4-BE49-F238E27FC236}">
                <a16:creationId xmlns:a16="http://schemas.microsoft.com/office/drawing/2014/main" id="{4F61772F-BBDD-4EF6-830E-77711E7CAAD1}"/>
              </a:ext>
            </a:extLst>
          </p:cNvPr>
          <p:cNvPicPr>
            <a:picLocks noChangeAspect="1"/>
          </p:cNvPicPr>
          <p:nvPr/>
        </p:nvPicPr>
        <p:blipFill>
          <a:blip r:embed="rId3"/>
          <a:stretch>
            <a:fillRect/>
          </a:stretch>
        </p:blipFill>
        <p:spPr>
          <a:xfrm>
            <a:off x="274319" y="914400"/>
            <a:ext cx="8595361" cy="38404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w="12700">
            <a:solidFill>
              <a:srgbClr val="1B2A4A"/>
            </a:solidFill>
            <a:prstDash val="solid"/>
          </a:ln>
        </p:spPr>
      </p:sp>
      <p:sp>
        <p:nvSpPr>
          <p:cNvPr id="3" name="Text 1"/>
          <p:cNvSpPr/>
          <p:nvPr/>
        </p:nvSpPr>
        <p:spPr>
          <a:xfrm>
            <a:off x="365760" y="0"/>
            <a:ext cx="8412480" cy="74980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Dashboard Sales</a:t>
            </a:r>
            <a:endParaRPr lang="en-US" sz="2400" dirty="0"/>
          </a:p>
        </p:txBody>
      </p:sp>
      <p:sp>
        <p:nvSpPr>
          <p:cNvPr id="4" name="Shape 2"/>
          <p:cNvSpPr/>
          <p:nvPr/>
        </p:nvSpPr>
        <p:spPr>
          <a:xfrm>
            <a:off x="274320" y="914400"/>
            <a:ext cx="8595360" cy="3840480"/>
          </a:xfrm>
          <a:prstGeom prst="rect">
            <a:avLst/>
          </a:prstGeom>
          <a:ln/>
        </p:spPr>
        <p:style>
          <a:lnRef idx="0">
            <a:schemeClr val="accent3"/>
          </a:lnRef>
          <a:fillRef idx="3">
            <a:schemeClr val="accent3"/>
          </a:fillRef>
          <a:effectRef idx="3">
            <a:schemeClr val="accent3"/>
          </a:effectRef>
          <a:fontRef idx="minor">
            <a:schemeClr val="lt1"/>
          </a:fontRef>
        </p:style>
        <p:txBody>
          <a:bodyPr/>
          <a:lstStyle/>
          <a:p>
            <a:endParaRPr lang="en-US"/>
          </a:p>
        </p:txBody>
      </p:sp>
      <p:sp>
        <p:nvSpPr>
          <p:cNvPr id="5" name="Shape 3"/>
          <p:cNvSpPr/>
          <p:nvPr/>
        </p:nvSpPr>
        <p:spPr>
          <a:xfrm>
            <a:off x="3886200" y="2011680"/>
            <a:ext cx="1371600" cy="914400"/>
          </a:xfrm>
          <a:prstGeom prst="rect">
            <a:avLst/>
          </a:prstGeom>
          <a:solidFill>
            <a:srgbClr val="D6E4F7"/>
          </a:solidFill>
          <a:ln w="12700">
            <a:solidFill>
              <a:srgbClr val="D6E4F7"/>
            </a:solidFill>
            <a:prstDash val="solid"/>
          </a:ln>
        </p:spPr>
      </p:sp>
      <p:sp>
        <p:nvSpPr>
          <p:cNvPr id="6" name="Text 4"/>
          <p:cNvSpPr/>
          <p:nvPr/>
        </p:nvSpPr>
        <p:spPr>
          <a:xfrm>
            <a:off x="3886200" y="2011680"/>
            <a:ext cx="1371600" cy="914400"/>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7" name="Text 5"/>
          <p:cNvSpPr/>
          <p:nvPr/>
        </p:nvSpPr>
        <p:spPr>
          <a:xfrm>
            <a:off x="274320" y="3017520"/>
            <a:ext cx="8595360" cy="502920"/>
          </a:xfrm>
          <a:prstGeom prst="rect">
            <a:avLst/>
          </a:prstGeom>
          <a:noFill/>
          <a:ln/>
        </p:spPr>
        <p:txBody>
          <a:bodyPr wrap="square" rtlCol="0" anchor="ctr"/>
          <a:lstStyle/>
          <a:p>
            <a:pPr marL="0" indent="0" algn="ctr">
              <a:buNone/>
            </a:pPr>
            <a:r>
              <a:rPr lang="en-US" sz="1600" b="1" dirty="0">
                <a:solidFill>
                  <a:srgbClr val="A0AEC0"/>
                </a:solidFill>
                <a:latin typeface="Calibri" pitchFamily="34" charset="0"/>
                <a:ea typeface="Calibri" pitchFamily="34" charset="-122"/>
                <a:cs typeface="Calibri" pitchFamily="34" charset="-120"/>
              </a:rPr>
              <a:t>Insert Dashboard Screenshot Here</a:t>
            </a:r>
            <a:endParaRPr lang="en-US" sz="1600" dirty="0"/>
          </a:p>
        </p:txBody>
      </p:sp>
      <p:sp>
        <p:nvSpPr>
          <p:cNvPr id="8" name="Text 6"/>
          <p:cNvSpPr/>
          <p:nvPr/>
        </p:nvSpPr>
        <p:spPr>
          <a:xfrm>
            <a:off x="274320" y="3547872"/>
            <a:ext cx="8595360" cy="320040"/>
          </a:xfrm>
          <a:prstGeom prst="rect">
            <a:avLst/>
          </a:prstGeom>
          <a:noFill/>
          <a:ln/>
        </p:spPr>
        <p:txBody>
          <a:bodyPr wrap="square" rtlCol="0" anchor="ctr"/>
          <a:lstStyle/>
          <a:p>
            <a:pPr marL="0" indent="0" algn="ctr">
              <a:buNone/>
            </a:pPr>
            <a:r>
              <a:rPr lang="en-US" sz="1100" dirty="0">
                <a:solidFill>
                  <a:srgbClr val="A0AEC0"/>
                </a:solidFill>
                <a:latin typeface="Calibri" pitchFamily="34" charset="0"/>
                <a:ea typeface="Calibri" pitchFamily="34" charset="-122"/>
                <a:cs typeface="Calibri" pitchFamily="34" charset="-120"/>
              </a:rPr>
              <a:t>(Right-click → Format Picture → Replace image)</a:t>
            </a:r>
            <a:endParaRPr lang="en-US" sz="1100" dirty="0"/>
          </a:p>
        </p:txBody>
      </p:sp>
      <p:pic>
        <p:nvPicPr>
          <p:cNvPr id="11" name="Picture 10">
            <a:extLst>
              <a:ext uri="{FF2B5EF4-FFF2-40B4-BE49-F238E27FC236}">
                <a16:creationId xmlns:a16="http://schemas.microsoft.com/office/drawing/2014/main" id="{6BF6C140-8A58-45EC-8D22-4F4049044E02}"/>
              </a:ext>
            </a:extLst>
          </p:cNvPr>
          <p:cNvPicPr>
            <a:picLocks noChangeAspect="1"/>
          </p:cNvPicPr>
          <p:nvPr/>
        </p:nvPicPr>
        <p:blipFill>
          <a:blip r:embed="rId3"/>
          <a:stretch>
            <a:fillRect/>
          </a:stretch>
        </p:blipFill>
        <p:spPr>
          <a:xfrm>
            <a:off x="274320" y="919859"/>
            <a:ext cx="8595360" cy="3835021"/>
          </a:xfrm>
          <a:prstGeom prst="rect">
            <a:avLst/>
          </a:prstGeom>
        </p:spPr>
      </p:pic>
    </p:spTree>
    <p:extLst>
      <p:ext uri="{BB962C8B-B14F-4D97-AF65-F5344CB8AC3E}">
        <p14:creationId xmlns:p14="http://schemas.microsoft.com/office/powerpoint/2010/main" val="1918745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0472"/>
            <a:ext cx="9144000" cy="749808"/>
          </a:xfrm>
          <a:prstGeom prst="rect">
            <a:avLst/>
          </a:prstGeom>
          <a:solidFill>
            <a:srgbClr val="1B2A4A"/>
          </a:solidFill>
          <a:ln w="12700">
            <a:solidFill>
              <a:srgbClr val="1B2A4A"/>
            </a:solidFill>
            <a:prstDash val="solid"/>
          </a:ln>
        </p:spPr>
      </p:sp>
      <p:sp>
        <p:nvSpPr>
          <p:cNvPr id="3" name="Text 1"/>
          <p:cNvSpPr/>
          <p:nvPr/>
        </p:nvSpPr>
        <p:spPr>
          <a:xfrm>
            <a:off x="365760" y="0"/>
            <a:ext cx="8412480" cy="74980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Dashboard </a:t>
            </a:r>
            <a:r>
              <a:rPr lang="en-US" sz="2400" b="1" dirty="0" err="1">
                <a:solidFill>
                  <a:srgbClr val="FFFFFF"/>
                </a:solidFill>
                <a:latin typeface="Calibri" pitchFamily="34" charset="0"/>
                <a:ea typeface="Calibri" pitchFamily="34" charset="-122"/>
                <a:cs typeface="Calibri" pitchFamily="34" charset="-120"/>
              </a:rPr>
              <a:t>Customer&amp;Product</a:t>
            </a:r>
            <a:endParaRPr lang="en-US" sz="2400" dirty="0"/>
          </a:p>
        </p:txBody>
      </p:sp>
      <p:sp>
        <p:nvSpPr>
          <p:cNvPr id="4" name="Shape 2"/>
          <p:cNvSpPr/>
          <p:nvPr/>
        </p:nvSpPr>
        <p:spPr>
          <a:xfrm>
            <a:off x="274320" y="914400"/>
            <a:ext cx="8595360" cy="3840480"/>
          </a:xfrm>
          <a:prstGeom prst="rect">
            <a:avLst/>
          </a:prstGeom>
          <a:ln/>
        </p:spPr>
        <p:style>
          <a:lnRef idx="0">
            <a:schemeClr val="accent3"/>
          </a:lnRef>
          <a:fillRef idx="3">
            <a:schemeClr val="accent3"/>
          </a:fillRef>
          <a:effectRef idx="3">
            <a:schemeClr val="accent3"/>
          </a:effectRef>
          <a:fontRef idx="minor">
            <a:schemeClr val="lt1"/>
          </a:fontRef>
        </p:style>
        <p:txBody>
          <a:bodyPr/>
          <a:lstStyle/>
          <a:p>
            <a:endParaRPr lang="en-US"/>
          </a:p>
        </p:txBody>
      </p:sp>
      <p:sp>
        <p:nvSpPr>
          <p:cNvPr id="5" name="Shape 3"/>
          <p:cNvSpPr/>
          <p:nvPr/>
        </p:nvSpPr>
        <p:spPr>
          <a:xfrm>
            <a:off x="3886200" y="2011680"/>
            <a:ext cx="1371600" cy="914400"/>
          </a:xfrm>
          <a:prstGeom prst="rect">
            <a:avLst/>
          </a:prstGeom>
          <a:solidFill>
            <a:srgbClr val="D6E4F7"/>
          </a:solidFill>
          <a:ln w="12700">
            <a:solidFill>
              <a:srgbClr val="D6E4F7"/>
            </a:solidFill>
            <a:prstDash val="solid"/>
          </a:ln>
        </p:spPr>
      </p:sp>
      <p:sp>
        <p:nvSpPr>
          <p:cNvPr id="6" name="Text 4"/>
          <p:cNvSpPr/>
          <p:nvPr/>
        </p:nvSpPr>
        <p:spPr>
          <a:xfrm>
            <a:off x="3886200" y="2011680"/>
            <a:ext cx="1371600" cy="914400"/>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7" name="Text 5"/>
          <p:cNvSpPr/>
          <p:nvPr/>
        </p:nvSpPr>
        <p:spPr>
          <a:xfrm>
            <a:off x="274320" y="3017520"/>
            <a:ext cx="8595360" cy="502920"/>
          </a:xfrm>
          <a:prstGeom prst="rect">
            <a:avLst/>
          </a:prstGeom>
          <a:noFill/>
          <a:ln/>
        </p:spPr>
        <p:txBody>
          <a:bodyPr wrap="square" rtlCol="0" anchor="ctr"/>
          <a:lstStyle/>
          <a:p>
            <a:pPr marL="0" indent="0" algn="ctr">
              <a:buNone/>
            </a:pPr>
            <a:r>
              <a:rPr lang="en-US" sz="1600" b="1" dirty="0">
                <a:solidFill>
                  <a:srgbClr val="A0AEC0"/>
                </a:solidFill>
                <a:latin typeface="Calibri" pitchFamily="34" charset="0"/>
                <a:ea typeface="Calibri" pitchFamily="34" charset="-122"/>
                <a:cs typeface="Calibri" pitchFamily="34" charset="-120"/>
              </a:rPr>
              <a:t>Insert Dashboard Screenshot Here</a:t>
            </a:r>
            <a:endParaRPr lang="en-US" sz="1600" dirty="0"/>
          </a:p>
        </p:txBody>
      </p:sp>
      <p:sp>
        <p:nvSpPr>
          <p:cNvPr id="8" name="Text 6"/>
          <p:cNvSpPr/>
          <p:nvPr/>
        </p:nvSpPr>
        <p:spPr>
          <a:xfrm>
            <a:off x="274320" y="3547872"/>
            <a:ext cx="8595360" cy="320040"/>
          </a:xfrm>
          <a:prstGeom prst="rect">
            <a:avLst/>
          </a:prstGeom>
          <a:noFill/>
          <a:ln/>
        </p:spPr>
        <p:txBody>
          <a:bodyPr wrap="square" rtlCol="0" anchor="ctr"/>
          <a:lstStyle/>
          <a:p>
            <a:pPr marL="0" indent="0" algn="ctr">
              <a:buNone/>
            </a:pPr>
            <a:r>
              <a:rPr lang="en-US" sz="1100" dirty="0">
                <a:solidFill>
                  <a:srgbClr val="A0AEC0"/>
                </a:solidFill>
                <a:latin typeface="Calibri" pitchFamily="34" charset="0"/>
                <a:ea typeface="Calibri" pitchFamily="34" charset="-122"/>
                <a:cs typeface="Calibri" pitchFamily="34" charset="-120"/>
              </a:rPr>
              <a:t>(Right-click → Format Picture → Replace image)</a:t>
            </a:r>
            <a:endParaRPr lang="en-US" sz="1100" dirty="0"/>
          </a:p>
        </p:txBody>
      </p:sp>
      <p:pic>
        <p:nvPicPr>
          <p:cNvPr id="10" name="Picture 9">
            <a:extLst>
              <a:ext uri="{FF2B5EF4-FFF2-40B4-BE49-F238E27FC236}">
                <a16:creationId xmlns:a16="http://schemas.microsoft.com/office/drawing/2014/main" id="{AFA3B3D6-B80B-4D28-9556-16E93BA4DA96}"/>
              </a:ext>
            </a:extLst>
          </p:cNvPr>
          <p:cNvPicPr>
            <a:picLocks noChangeAspect="1"/>
          </p:cNvPicPr>
          <p:nvPr/>
        </p:nvPicPr>
        <p:blipFill>
          <a:blip r:embed="rId3"/>
          <a:stretch>
            <a:fillRect/>
          </a:stretch>
        </p:blipFill>
        <p:spPr>
          <a:xfrm>
            <a:off x="274320" y="914400"/>
            <a:ext cx="8595360" cy="3840480"/>
          </a:xfrm>
          <a:prstGeom prst="rect">
            <a:avLst/>
          </a:prstGeom>
        </p:spPr>
      </p:pic>
    </p:spTree>
    <p:extLst>
      <p:ext uri="{BB962C8B-B14F-4D97-AF65-F5344CB8AC3E}">
        <p14:creationId xmlns:p14="http://schemas.microsoft.com/office/powerpoint/2010/main" val="1097017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w="12700">
            <a:solidFill>
              <a:srgbClr val="1B2A4A"/>
            </a:solidFill>
            <a:prstDash val="solid"/>
          </a:ln>
        </p:spPr>
      </p:sp>
      <p:sp>
        <p:nvSpPr>
          <p:cNvPr id="3" name="Text 1"/>
          <p:cNvSpPr/>
          <p:nvPr/>
        </p:nvSpPr>
        <p:spPr>
          <a:xfrm>
            <a:off x="365760" y="0"/>
            <a:ext cx="8412480" cy="74980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Conclusion</a:t>
            </a:r>
            <a:endParaRPr lang="en-US" sz="2400" dirty="0"/>
          </a:p>
        </p:txBody>
      </p:sp>
      <p:sp>
        <p:nvSpPr>
          <p:cNvPr id="4" name="Shape 2"/>
          <p:cNvSpPr/>
          <p:nvPr/>
        </p:nvSpPr>
        <p:spPr>
          <a:xfrm>
            <a:off x="274320" y="914400"/>
            <a:ext cx="54864" cy="1737360"/>
          </a:xfrm>
          <a:prstGeom prst="rect">
            <a:avLst/>
          </a:prstGeom>
          <a:solidFill>
            <a:srgbClr val="3A7BD5"/>
          </a:solidFill>
          <a:ln w="12700">
            <a:solidFill>
              <a:srgbClr val="3A7BD5"/>
            </a:solidFill>
            <a:prstDash val="solid"/>
          </a:ln>
        </p:spPr>
      </p:sp>
      <p:sp>
        <p:nvSpPr>
          <p:cNvPr id="5" name="Text 3"/>
          <p:cNvSpPr/>
          <p:nvPr/>
        </p:nvSpPr>
        <p:spPr>
          <a:xfrm>
            <a:off x="502920" y="914400"/>
            <a:ext cx="822960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Summary</a:t>
            </a:r>
            <a:endParaRPr lang="en-US" sz="1500" dirty="0"/>
          </a:p>
        </p:txBody>
      </p:sp>
      <p:sp>
        <p:nvSpPr>
          <p:cNvPr id="6" name="Shape 4"/>
          <p:cNvSpPr/>
          <p:nvPr/>
        </p:nvSpPr>
        <p:spPr>
          <a:xfrm>
            <a:off x="502920" y="1298448"/>
            <a:ext cx="8229600" cy="1234440"/>
          </a:xfrm>
          <a:prstGeom prst="rect">
            <a:avLst/>
          </a:prstGeom>
          <a:solidFill>
            <a:srgbClr val="EDF2F7"/>
          </a:solidFill>
          <a:ln w="12700">
            <a:solidFill>
              <a:srgbClr val="A0AEC0"/>
            </a:solidFill>
            <a:prstDash val="dash"/>
          </a:ln>
        </p:spPr>
      </p:sp>
      <p:sp>
        <p:nvSpPr>
          <p:cNvPr id="7" name="Text 5"/>
          <p:cNvSpPr/>
          <p:nvPr/>
        </p:nvSpPr>
        <p:spPr>
          <a:xfrm>
            <a:off x="502920" y="1298448"/>
            <a:ext cx="8229600" cy="1234440"/>
          </a:xfrm>
          <a:prstGeom prst="rect">
            <a:avLst/>
          </a:prstGeom>
          <a:noFill/>
          <a:ln/>
        </p:spPr>
        <p:txBody>
          <a:bodyPr wrap="square" rtlCol="0" anchor="ctr"/>
          <a:lstStyle/>
          <a:p>
            <a:pPr marL="0" indent="0">
              <a:buNone/>
            </a:pPr>
            <a:r>
              <a:rPr lang="en-US" sz="1400" dirty="0">
                <a:solidFill>
                  <a:schemeClr val="bg1">
                    <a:lumMod val="50000"/>
                  </a:schemeClr>
                </a:solidFill>
              </a:rPr>
              <a:t>This project performed an end-to-end analysis of the Superstore dataset using SQL Server and Power BI. The data was cleaned, duplicates were removed, and structured views were built following a Star Schema. Business analysis queries were used to extract key insights, which were then visualized through an interactive Power BI dashboard.</a:t>
            </a:r>
            <a:endParaRPr lang="en-US" sz="1300" dirty="0">
              <a:solidFill>
                <a:schemeClr val="bg1">
                  <a:lumMod val="50000"/>
                </a:schemeClr>
              </a:solidFill>
            </a:endParaRPr>
          </a:p>
        </p:txBody>
      </p:sp>
      <p:sp>
        <p:nvSpPr>
          <p:cNvPr id="8" name="Shape 6"/>
          <p:cNvSpPr/>
          <p:nvPr/>
        </p:nvSpPr>
        <p:spPr>
          <a:xfrm>
            <a:off x="274320" y="2743200"/>
            <a:ext cx="54864" cy="1737360"/>
          </a:xfrm>
          <a:prstGeom prst="rect">
            <a:avLst/>
          </a:prstGeom>
          <a:solidFill>
            <a:srgbClr val="3A7BD5"/>
          </a:solidFill>
          <a:ln w="12700">
            <a:solidFill>
              <a:srgbClr val="3A7BD5"/>
            </a:solidFill>
            <a:prstDash val="solid"/>
          </a:ln>
        </p:spPr>
      </p:sp>
      <p:sp>
        <p:nvSpPr>
          <p:cNvPr id="9" name="Text 7"/>
          <p:cNvSpPr/>
          <p:nvPr/>
        </p:nvSpPr>
        <p:spPr>
          <a:xfrm>
            <a:off x="502920" y="2743200"/>
            <a:ext cx="822960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Recommendations</a:t>
            </a:r>
            <a:endParaRPr lang="en-US" sz="1500" dirty="0"/>
          </a:p>
        </p:txBody>
      </p:sp>
      <p:sp>
        <p:nvSpPr>
          <p:cNvPr id="10" name="Shape 8"/>
          <p:cNvSpPr/>
          <p:nvPr/>
        </p:nvSpPr>
        <p:spPr>
          <a:xfrm>
            <a:off x="502920" y="3127248"/>
            <a:ext cx="8229600" cy="1234439"/>
          </a:xfrm>
          <a:prstGeom prst="rect">
            <a:avLst/>
          </a:prstGeom>
          <a:solidFill>
            <a:srgbClr val="EDF2F7"/>
          </a:solidFill>
          <a:ln w="12700">
            <a:solidFill>
              <a:srgbClr val="A0AEC0"/>
            </a:solidFill>
            <a:prstDash val="dash"/>
          </a:ln>
        </p:spPr>
        <p:txBody>
          <a:bodyPr/>
          <a:lstStyle/>
          <a:p>
            <a:pPr marL="285750" indent="-285750">
              <a:buFont typeface="Arial" panose="020B0604020202020204" pitchFamily="34" charset="0"/>
              <a:buChar char="•"/>
            </a:pPr>
            <a:r>
              <a:rPr lang="en-US" sz="1400" dirty="0">
                <a:solidFill>
                  <a:schemeClr val="bg1">
                    <a:lumMod val="50000"/>
                  </a:schemeClr>
                </a:solidFill>
              </a:rPr>
              <a:t>Focus marketing efforts on the West region as it generates the highest revenue</a:t>
            </a:r>
          </a:p>
          <a:p>
            <a:pPr marL="285750" indent="-285750">
              <a:buFont typeface="Arial" panose="020B0604020202020204" pitchFamily="34" charset="0"/>
              <a:buChar char="•"/>
            </a:pPr>
            <a:r>
              <a:rPr lang="en-US" sz="1400" dirty="0">
                <a:solidFill>
                  <a:schemeClr val="bg1">
                    <a:lumMod val="50000"/>
                  </a:schemeClr>
                </a:solidFill>
              </a:rPr>
              <a:t>Invest more in Technology category as it is the top performing category</a:t>
            </a:r>
          </a:p>
          <a:p>
            <a:pPr marL="285750" indent="-285750">
              <a:buFont typeface="Arial" panose="020B0604020202020204" pitchFamily="34" charset="0"/>
              <a:buChar char="•"/>
            </a:pPr>
            <a:r>
              <a:rPr lang="en-US" sz="1400" dirty="0">
                <a:solidFill>
                  <a:schemeClr val="bg1">
                    <a:lumMod val="50000"/>
                  </a:schemeClr>
                </a:solidFill>
              </a:rPr>
              <a:t>Prepare for peak seasons in November &amp; December to maximize sales</a:t>
            </a:r>
          </a:p>
          <a:p>
            <a:pPr marL="285750" indent="-285750">
              <a:buFont typeface="Arial" panose="020B0604020202020204" pitchFamily="34" charset="0"/>
              <a:buChar char="•"/>
            </a:pPr>
            <a:r>
              <a:rPr lang="en-US" sz="1400" dirty="0">
                <a:solidFill>
                  <a:schemeClr val="bg1">
                    <a:lumMod val="50000"/>
                  </a:schemeClr>
                </a:solidFill>
              </a:rPr>
              <a:t>Investigate the low performance in the South region to identify growth opportunities</a:t>
            </a:r>
          </a:p>
          <a:p>
            <a:pPr marL="285750" indent="-285750">
              <a:buFont typeface="Arial" panose="020B0604020202020204" pitchFamily="34" charset="0"/>
              <a:buChar char="•"/>
            </a:pPr>
            <a:r>
              <a:rPr lang="en-US" sz="1400" dirty="0">
                <a:solidFill>
                  <a:schemeClr val="bg1">
                    <a:lumMod val="50000"/>
                  </a:schemeClr>
                </a:solidFill>
              </a:rPr>
              <a:t>Target Consumer segment as it represents over 50% of total sales</a:t>
            </a:r>
          </a:p>
        </p:txBody>
      </p:sp>
      <p:sp>
        <p:nvSpPr>
          <p:cNvPr id="11" name="Text 9"/>
          <p:cNvSpPr/>
          <p:nvPr/>
        </p:nvSpPr>
        <p:spPr>
          <a:xfrm>
            <a:off x="502920" y="3127248"/>
            <a:ext cx="8229600" cy="1234440"/>
          </a:xfrm>
          <a:prstGeom prst="rect">
            <a:avLst/>
          </a:prstGeom>
          <a:noFill/>
          <a:ln/>
        </p:spPr>
        <p:txBody>
          <a:bodyPr wrap="square" rtlCol="0" anchor="ctr"/>
          <a:lstStyle/>
          <a:p>
            <a:pPr marL="0" indent="0" algn="ctr">
              <a:buNone/>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TotalTime>
  <Words>623</Words>
  <Application>Microsoft Office PowerPoint</Application>
  <PresentationFormat>On-screen Show (16:9)</PresentationFormat>
  <Paragraphs>81</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aly</cp:lastModifiedBy>
  <cp:revision>4</cp:revision>
  <dcterms:created xsi:type="dcterms:W3CDTF">2026-05-23T22:30:39Z</dcterms:created>
  <dcterms:modified xsi:type="dcterms:W3CDTF">2026-05-24T13:04:09Z</dcterms:modified>
</cp:coreProperties>
</file>